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36"/>
  </p:notesMasterIdLst>
  <p:sldIdLst>
    <p:sldId id="269" r:id="rId2"/>
    <p:sldId id="257" r:id="rId3"/>
    <p:sldId id="258" r:id="rId4"/>
    <p:sldId id="264" r:id="rId5"/>
    <p:sldId id="263" r:id="rId6"/>
    <p:sldId id="265" r:id="rId7"/>
    <p:sldId id="273" r:id="rId8"/>
    <p:sldId id="275" r:id="rId9"/>
    <p:sldId id="259" r:id="rId10"/>
    <p:sldId id="266" r:id="rId11"/>
    <p:sldId id="270" r:id="rId12"/>
    <p:sldId id="267" r:id="rId13"/>
    <p:sldId id="276" r:id="rId14"/>
    <p:sldId id="268" r:id="rId15"/>
    <p:sldId id="271" r:id="rId16"/>
    <p:sldId id="277" r:id="rId17"/>
    <p:sldId id="272" r:id="rId18"/>
    <p:sldId id="279" r:id="rId19"/>
    <p:sldId id="280" r:id="rId20"/>
    <p:sldId id="292" r:id="rId21"/>
    <p:sldId id="293" r:id="rId22"/>
    <p:sldId id="294" r:id="rId23"/>
    <p:sldId id="281" r:id="rId24"/>
    <p:sldId id="284" r:id="rId25"/>
    <p:sldId id="285" r:id="rId26"/>
    <p:sldId id="286" r:id="rId27"/>
    <p:sldId id="287" r:id="rId28"/>
    <p:sldId id="283" r:id="rId29"/>
    <p:sldId id="282" r:id="rId30"/>
    <p:sldId id="260" r:id="rId31"/>
    <p:sldId id="278" r:id="rId32"/>
    <p:sldId id="291" r:id="rId33"/>
    <p:sldId id="288" r:id="rId34"/>
    <p:sldId id="289"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p:cViewPr varScale="1">
        <p:scale>
          <a:sx n="74" d="100"/>
          <a:sy n="74" d="100"/>
        </p:scale>
        <p:origin x="1738"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942AD9-36DE-4DD0-AF0A-E211DB78D0B5}" type="datetimeFigureOut">
              <a:rPr lang="en-US" smtClean="0"/>
              <a:t>5/12/2025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916266-2922-41AE-BB9A-0E75A4DF5522}" type="slidenum">
              <a:rPr lang="en-US" smtClean="0"/>
              <a:t>‹#›</a:t>
            </a:fld>
            <a:endParaRPr lang="en-US"/>
          </a:p>
        </p:txBody>
      </p:sp>
    </p:spTree>
    <p:extLst>
      <p:ext uri="{BB962C8B-B14F-4D97-AF65-F5344CB8AC3E}">
        <p14:creationId xmlns:p14="http://schemas.microsoft.com/office/powerpoint/2010/main" val="70763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B916266-2922-41AE-BB9A-0E75A4DF5522}" type="slidenum">
              <a:rPr lang="en-US" smtClean="0"/>
              <a:t>3</a:t>
            </a:fld>
            <a:endParaRPr lang="en-US"/>
          </a:p>
        </p:txBody>
      </p:sp>
    </p:spTree>
    <p:extLst>
      <p:ext uri="{BB962C8B-B14F-4D97-AF65-F5344CB8AC3E}">
        <p14:creationId xmlns:p14="http://schemas.microsoft.com/office/powerpoint/2010/main" val="2388696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0D601EB-898D-45EB-AF02-BDBAAC1BCF6B}" type="datetime1">
              <a:rPr lang="en-US" smtClean="0"/>
              <a:t>5/12/2025</a:t>
            </a:fld>
            <a:endParaRPr lang="en-US"/>
          </a:p>
        </p:txBody>
      </p:sp>
      <p:sp>
        <p:nvSpPr>
          <p:cNvPr id="5" name="Footer Placeholder 4"/>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70196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2CAF6E-30C6-4892-8ECC-28B98795E53E}" type="datetime1">
              <a:rPr lang="en-US" smtClean="0"/>
              <a:t>5/12/2025</a:t>
            </a:fld>
            <a:endParaRPr lang="en-US"/>
          </a:p>
        </p:txBody>
      </p:sp>
      <p:sp>
        <p:nvSpPr>
          <p:cNvPr id="5" name="Footer Placeholder 4"/>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466879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30014B-F72F-459C-9AEA-83526BA1950E}" type="datetime1">
              <a:rPr lang="en-US" smtClean="0"/>
              <a:t>5/12/2025</a:t>
            </a:fld>
            <a:endParaRPr lang="en-US"/>
          </a:p>
        </p:txBody>
      </p:sp>
      <p:sp>
        <p:nvSpPr>
          <p:cNvPr id="5" name="Footer Placeholder 4"/>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46487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CD3470D-456E-4B74-9504-3BED3E1E331F}" type="datetime1">
              <a:rPr lang="en-US" smtClean="0"/>
              <a:t>5/12/2025</a:t>
            </a:fld>
            <a:endParaRPr lang="en-US"/>
          </a:p>
        </p:txBody>
      </p:sp>
      <p:sp>
        <p:nvSpPr>
          <p:cNvPr id="6" name="Footer Placeholder 5"/>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26075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F57A5D-D22F-444E-B503-748AF7911620}" type="datetime1">
              <a:rPr lang="en-US" smtClean="0"/>
              <a:t>5/12/2025</a:t>
            </a:fld>
            <a:endParaRPr lang="en-US"/>
          </a:p>
        </p:txBody>
      </p:sp>
      <p:sp>
        <p:nvSpPr>
          <p:cNvPr id="8" name="Footer Placeholder 7"/>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9" name="Slide Number Placeholder 8"/>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74749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F4DC5B-AE6E-413C-999F-2C6DCDB27E54}" type="datetime1">
              <a:rPr lang="en-US" smtClean="0"/>
              <a:t>5/12/2025</a:t>
            </a:fld>
            <a:endParaRPr lang="en-US"/>
          </a:p>
        </p:txBody>
      </p:sp>
      <p:sp>
        <p:nvSpPr>
          <p:cNvPr id="4" name="Footer Placeholder 3"/>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5" name="Slide Number Placeholder 4"/>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813854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17F5AD-FB09-4176-8819-3235C853B628}" type="datetime1">
              <a:rPr lang="en-US" smtClean="0"/>
              <a:t>5/12/2025</a:t>
            </a:fld>
            <a:endParaRPr lang="en-US"/>
          </a:p>
        </p:txBody>
      </p:sp>
      <p:sp>
        <p:nvSpPr>
          <p:cNvPr id="3" name="Footer Placeholder 2"/>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4" name="Slide Number Placeholder 3"/>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147304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0BFC23-F62A-4DCF-8A7C-23F35CFA6295}" type="datetime1">
              <a:rPr lang="en-US" smtClean="0"/>
              <a:t>5/12/2025</a:t>
            </a:fld>
            <a:endParaRPr lang="en-US"/>
          </a:p>
        </p:txBody>
      </p:sp>
      <p:sp>
        <p:nvSpPr>
          <p:cNvPr id="6" name="Footer Placeholder 5"/>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2798404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BC4C3F-A6B3-439C-BF6D-6DFD3A565AFB}" type="datetime1">
              <a:rPr lang="en-US" smtClean="0"/>
              <a:t>5/12/2025</a:t>
            </a:fld>
            <a:endParaRPr lang="en-US"/>
          </a:p>
        </p:txBody>
      </p:sp>
      <p:sp>
        <p:nvSpPr>
          <p:cNvPr id="6" name="Footer Placeholder 5"/>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21677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894F03-ECCF-40AC-9049-09ECFD328156}" type="datetime1">
              <a:rPr lang="en-US" smtClean="0"/>
              <a:t>5/12/2025</a:t>
            </a:fld>
            <a:endParaRPr lang="en-US"/>
          </a:p>
        </p:txBody>
      </p:sp>
      <p:sp>
        <p:nvSpPr>
          <p:cNvPr id="5" name="Footer Placeholder 4"/>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84521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16A059-A3AC-4C78-B822-ABB2B55C89C2}" type="datetime1">
              <a:rPr lang="en-US" smtClean="0"/>
              <a:t>5/12/2025</a:t>
            </a:fld>
            <a:endParaRPr lang="en-US"/>
          </a:p>
        </p:txBody>
      </p:sp>
      <p:sp>
        <p:nvSpPr>
          <p:cNvPr id="5" name="Footer Placeholder 4"/>
          <p:cNvSpPr>
            <a:spLocks noGrp="1"/>
          </p:cNvSpPr>
          <p:nvPr>
            <p:ph type="ftr" sz="quarter" idx="11"/>
          </p:nvPr>
        </p:nvSpPr>
        <p:spPr/>
        <p:txBody>
          <a:bodyPr/>
          <a:lstStyle/>
          <a:p>
            <a:r>
              <a:rPr lang="en-US" dirty="0"/>
              <a:t>DEPARTMENT OF COMPUTER SCIENCE AND ENGINEERING SPECIALIZATION IN CYBER SECURITY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398110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053B32-2D0D-46EA-AEFE-E5001DBB2FF4}" type="datetime1">
              <a:rPr lang="en-US" smtClean="0"/>
              <a:t>5/12/2025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DEPARTMENT OF COMPUTER SCIENCE AND ENGINEERING SPECIALIZATION IN CYBER SECURITY - INTERNET OF THINGS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DEB80-DBCE-406A-80BF-FEBEE692EE79}" type="slidenum">
              <a:rPr lang="en-US" smtClean="0"/>
              <a:t>‹#›</a:t>
            </a:fld>
            <a:endParaRPr lang="en-US"/>
          </a:p>
        </p:txBody>
      </p:sp>
    </p:spTree>
    <p:extLst>
      <p:ext uri="{BB962C8B-B14F-4D97-AF65-F5344CB8AC3E}">
        <p14:creationId xmlns:p14="http://schemas.microsoft.com/office/powerpoint/2010/main" val="2941625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5800" y="469900"/>
            <a:ext cx="6807200" cy="1330326"/>
          </a:xfrm>
        </p:spPr>
        <p:txBody>
          <a:bodyPr>
            <a:noAutofit/>
          </a:bodyPr>
          <a:lstStyle/>
          <a:p>
            <a:r>
              <a:rPr lang="en-US" sz="2000" b="1" dirty="0">
                <a:latin typeface="Times New Roman" panose="02020603050405020304" charset="0"/>
                <a:cs typeface="Times New Roman" panose="02020603050405020304" charset="0"/>
              </a:rPr>
              <a:t>SRM INSTITUTE OF SCIENCE AND TECHNOLOGY</a:t>
            </a:r>
            <a:br>
              <a:rPr lang="en-US" sz="1800" b="1" dirty="0">
                <a:latin typeface="Times New Roman" panose="02020603050405020304" charset="0"/>
                <a:cs typeface="Times New Roman" panose="02020603050405020304" charset="0"/>
              </a:rPr>
            </a:br>
            <a:r>
              <a:rPr lang="en-US" sz="1800" b="1" dirty="0" err="1">
                <a:latin typeface="Times New Roman" panose="02020603050405020304" charset="0"/>
                <a:cs typeface="Times New Roman" panose="02020603050405020304" charset="0"/>
              </a:rPr>
              <a:t>Ramapuram</a:t>
            </a:r>
            <a:r>
              <a:rPr lang="en-US" sz="1800" b="1" dirty="0">
                <a:latin typeface="Times New Roman" panose="02020603050405020304" charset="0"/>
                <a:cs typeface="Times New Roman" panose="02020603050405020304" charset="0"/>
              </a:rPr>
              <a:t>, Chennai – 600 089</a:t>
            </a:r>
            <a:br>
              <a:rPr lang="en-US" sz="1800" b="1" dirty="0">
                <a:latin typeface="Times New Roman" panose="02020603050405020304" charset="0"/>
                <a:cs typeface="Times New Roman" panose="02020603050405020304" charset="0"/>
              </a:rPr>
            </a:br>
            <a:r>
              <a:rPr lang="en-US" sz="1600" b="1" dirty="0">
                <a:latin typeface="Times New Roman" panose="02020603050405020304" charset="0"/>
                <a:cs typeface="Times New Roman" panose="02020603050405020304" charset="0"/>
              </a:rPr>
              <a:t>SCHOOL OF COMPUTER SCIENCE ENGINEERING </a:t>
            </a:r>
            <a:br>
              <a:rPr lang="en-US" sz="1600" b="1" dirty="0">
                <a:latin typeface="Times New Roman" panose="02020603050405020304" charset="0"/>
                <a:cs typeface="Times New Roman" panose="02020603050405020304" charset="0"/>
              </a:rPr>
            </a:br>
            <a:r>
              <a:rPr lang="en-US" sz="1600" b="1" dirty="0">
                <a:latin typeface="Times New Roman" panose="02020603050405020304" charset="0"/>
                <a:cs typeface="Times New Roman" panose="02020603050405020304" charset="0"/>
              </a:rPr>
              <a:t>DEPARTMENT OF COMPUTER SCIENCE AND ENGINEERING SPECIALIZATION IN CYBER SECURITY</a:t>
            </a:r>
            <a:endParaRPr lang="en-US" sz="1800" dirty="0"/>
          </a:p>
        </p:txBody>
      </p:sp>
      <p:sp>
        <p:nvSpPr>
          <p:cNvPr id="3" name="Subtitle 2"/>
          <p:cNvSpPr>
            <a:spLocks noGrp="1"/>
          </p:cNvSpPr>
          <p:nvPr>
            <p:ph type="subTitle" idx="1"/>
          </p:nvPr>
        </p:nvSpPr>
        <p:spPr>
          <a:xfrm>
            <a:off x="457200" y="2507228"/>
            <a:ext cx="8077200" cy="773641"/>
          </a:xfrm>
        </p:spPr>
        <p:txBody>
          <a:bodyPr>
            <a:noAutofit/>
          </a:bodyPr>
          <a:lstStyle/>
          <a:p>
            <a:endParaRPr lang="en-US" sz="2400" dirty="0">
              <a:solidFill>
                <a:schemeClr val="tx1"/>
              </a:solidFill>
            </a:endParaRPr>
          </a:p>
          <a:p>
            <a:r>
              <a:rPr lang="en-US" dirty="0">
                <a:solidFill>
                  <a:schemeClr val="tx1"/>
                </a:solidFill>
              </a:rPr>
              <a:t>     </a:t>
            </a:r>
            <a:r>
              <a:rPr lang="en-US" dirty="0">
                <a:solidFill>
                  <a:schemeClr val="dk1"/>
                </a:solidFill>
              </a:rPr>
              <a:t>Payload Decoder: Unveiling Threats Through Reverse Engineering </a:t>
            </a:r>
            <a:endParaRPr lang="en-US" dirty="0">
              <a:solidFill>
                <a:schemeClr val="tx1"/>
              </a:solidFill>
            </a:endParaRPr>
          </a:p>
        </p:txBody>
      </p:sp>
      <p:sp>
        <p:nvSpPr>
          <p:cNvPr id="5" name="Subtitle 2"/>
          <p:cNvSpPr txBox="1">
            <a:spLocks/>
          </p:cNvSpPr>
          <p:nvPr/>
        </p:nvSpPr>
        <p:spPr>
          <a:xfrm>
            <a:off x="1676400" y="1869018"/>
            <a:ext cx="5943600" cy="5334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lvl="0" indent="0" algn="ctr" rtl="0">
              <a:spcBef>
                <a:spcPts val="0"/>
              </a:spcBef>
              <a:spcAft>
                <a:spcPts val="0"/>
              </a:spcAft>
              <a:buClr>
                <a:schemeClr val="dk1"/>
              </a:buClr>
              <a:buSzPts val="1800"/>
              <a:buNone/>
            </a:pPr>
            <a:r>
              <a:rPr lang="en-US" sz="1600" b="1" dirty="0">
                <a:solidFill>
                  <a:schemeClr val="dk1"/>
                </a:solidFill>
                <a:sym typeface="Arial"/>
              </a:rPr>
              <a:t>18CSP109L -  PROJECT </a:t>
            </a:r>
          </a:p>
          <a:p>
            <a:pPr marL="0" lvl="0" indent="0" algn="ctr" rtl="0">
              <a:spcBef>
                <a:spcPts val="360"/>
              </a:spcBef>
              <a:spcAft>
                <a:spcPts val="0"/>
              </a:spcAft>
              <a:buClr>
                <a:schemeClr val="dk1"/>
              </a:buClr>
              <a:buSzPts val="1800"/>
              <a:buNone/>
            </a:pPr>
            <a:r>
              <a:rPr lang="en-US" sz="1600" b="1" dirty="0">
                <a:solidFill>
                  <a:schemeClr val="dk1"/>
                </a:solidFill>
                <a:sym typeface="Arial"/>
              </a:rPr>
              <a:t>18CSP462L – PROJECT EVALUATION-2</a:t>
            </a:r>
          </a:p>
          <a:p>
            <a:pPr marL="0" marR="0" lvl="0" indent="0" algn="ctr" rtl="0">
              <a:spcBef>
                <a:spcPts val="0"/>
              </a:spcBef>
              <a:spcAft>
                <a:spcPts val="0"/>
              </a:spcAft>
              <a:buClr>
                <a:schemeClr val="dk1"/>
              </a:buClr>
              <a:buSzPts val="1400"/>
              <a:buFont typeface="Arial"/>
              <a:buNone/>
            </a:pPr>
            <a:r>
              <a:rPr lang="en-US" sz="1600" b="1" i="0" u="none" strike="noStrike" cap="none" dirty="0">
                <a:solidFill>
                  <a:schemeClr val="dk1"/>
                </a:solidFill>
                <a:latin typeface="Calibri"/>
                <a:ea typeface="Calibri"/>
                <a:cs typeface="Calibri"/>
                <a:sym typeface="Calibri"/>
              </a:rPr>
              <a:t>FINAL VIVA VOCE 2025</a:t>
            </a:r>
            <a:endParaRPr lang="en-US" sz="1600" dirty="0"/>
          </a:p>
          <a:p>
            <a:pPr marL="0" marR="0" lvl="0" indent="0" algn="ctr" rtl="0">
              <a:spcBef>
                <a:spcPts val="280"/>
              </a:spcBef>
              <a:spcAft>
                <a:spcPts val="0"/>
              </a:spcAft>
              <a:buClr>
                <a:schemeClr val="dk1"/>
              </a:buClr>
              <a:buSzPts val="1400"/>
              <a:buFont typeface="Arial"/>
              <a:buNone/>
            </a:pPr>
            <a:r>
              <a:rPr lang="en-US" sz="1600" b="1" i="0" u="none" strike="noStrike" cap="none" dirty="0">
                <a:solidFill>
                  <a:schemeClr val="dk1"/>
                </a:solidFill>
                <a:latin typeface="Calibri"/>
                <a:ea typeface="Calibri"/>
                <a:cs typeface="Calibri"/>
                <a:sym typeface="Calibri"/>
              </a:rPr>
              <a:t>CLASS/YEAR/SEC : CSE-CS/IV/C                           BATCH NUMBER </a:t>
            </a:r>
            <a:r>
              <a:rPr lang="en-US" sz="1600" b="0" i="0" u="none" strike="noStrike" cap="none" dirty="0">
                <a:solidFill>
                  <a:schemeClr val="dk1"/>
                </a:solidFill>
                <a:latin typeface="Calibri"/>
                <a:ea typeface="Calibri"/>
                <a:cs typeface="Calibri"/>
                <a:sym typeface="Calibri"/>
              </a:rPr>
              <a:t>: </a:t>
            </a:r>
            <a:r>
              <a:rPr lang="en-US" sz="1600" b="1" i="0" u="none" strike="noStrike" cap="none" dirty="0">
                <a:solidFill>
                  <a:schemeClr val="dk1"/>
                </a:solidFill>
                <a:latin typeface="Calibri"/>
                <a:ea typeface="Calibri"/>
                <a:cs typeface="Calibri"/>
                <a:sym typeface="Calibri"/>
              </a:rPr>
              <a:t>14</a:t>
            </a:r>
            <a:endParaRPr lang="en-US" sz="1600" b="1" dirty="0"/>
          </a:p>
          <a:p>
            <a:pPr marL="0" lvl="0" indent="0" algn="ctr" rtl="0">
              <a:spcBef>
                <a:spcPts val="360"/>
              </a:spcBef>
              <a:spcAft>
                <a:spcPts val="0"/>
              </a:spcAft>
              <a:buClr>
                <a:schemeClr val="dk1"/>
              </a:buClr>
              <a:buSzPts val="1800"/>
              <a:buNone/>
            </a:pPr>
            <a:endParaRPr lang="en-US" sz="1600" b="1"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038904763"/>
              </p:ext>
            </p:extLst>
          </p:nvPr>
        </p:nvGraphicFramePr>
        <p:xfrm>
          <a:off x="228600" y="4185708"/>
          <a:ext cx="8305800" cy="2136151"/>
        </p:xfrm>
        <a:graphic>
          <a:graphicData uri="http://schemas.openxmlformats.org/drawingml/2006/table">
            <a:tbl>
              <a:tblPr firstRow="1" bandRow="1">
                <a:tableStyleId>{BDBED569-4797-4DF1-A0F4-6AAB3CD982D8}</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386292">
                <a:tc>
                  <a:txBody>
                    <a:bodyPr/>
                    <a:lstStyle/>
                    <a:p>
                      <a:r>
                        <a:rPr lang="en-US" dirty="0"/>
                        <a:t>Team Members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Supervisor</a:t>
                      </a:r>
                    </a:p>
                  </a:txBody>
                  <a:tcPr/>
                </a:tc>
                <a:extLst>
                  <a:ext uri="{0D108BD9-81ED-4DB2-BD59-A6C34878D82A}">
                    <a16:rowId xmlns:a16="http://schemas.microsoft.com/office/drawing/2014/main" val="10000"/>
                  </a:ext>
                </a:extLst>
              </a:tr>
              <a:tr h="1749859">
                <a:tc>
                  <a:txBody>
                    <a:bodyPr/>
                    <a:lstStyle/>
                    <a:p>
                      <a:pPr marL="0" marR="0" lvl="0" indent="0" algn="l" rtl="0">
                        <a:spcBef>
                          <a:spcPts val="0"/>
                        </a:spcBef>
                        <a:spcAft>
                          <a:spcPts val="0"/>
                        </a:spcAft>
                        <a:buNone/>
                      </a:pPr>
                      <a:r>
                        <a:rPr lang="en-US" sz="1800" dirty="0"/>
                        <a:t>Barath V.S               RA2111030020128</a:t>
                      </a:r>
                    </a:p>
                    <a:p>
                      <a:pPr marL="0" marR="0" lvl="0" indent="0" algn="l" rtl="0">
                        <a:spcBef>
                          <a:spcPts val="0"/>
                        </a:spcBef>
                        <a:spcAft>
                          <a:spcPts val="0"/>
                        </a:spcAft>
                        <a:buNone/>
                      </a:pPr>
                      <a:r>
                        <a:rPr lang="en-US" sz="1800" dirty="0" err="1"/>
                        <a:t>S.Trivikriam</a:t>
                      </a:r>
                      <a:r>
                        <a:rPr lang="en-US" sz="1800" dirty="0"/>
                        <a:t>             RA2111030020166</a:t>
                      </a:r>
                    </a:p>
                    <a:p>
                      <a:pPr marL="0" marR="0" lvl="0" indent="0" algn="l" rtl="0">
                        <a:spcBef>
                          <a:spcPts val="0"/>
                        </a:spcBef>
                        <a:spcAft>
                          <a:spcPts val="0"/>
                        </a:spcAft>
                        <a:buNone/>
                      </a:pPr>
                      <a:r>
                        <a:rPr lang="en-US" sz="1800" dirty="0"/>
                        <a:t>S.R </a:t>
                      </a:r>
                      <a:r>
                        <a:rPr lang="en-US" sz="1800" dirty="0" err="1"/>
                        <a:t>Shiravanthan</a:t>
                      </a:r>
                      <a:r>
                        <a:rPr lang="en-US" sz="1800" dirty="0"/>
                        <a:t>   RA2111030020156</a:t>
                      </a:r>
                    </a:p>
                    <a:p>
                      <a:endParaRPr lang="en-US" dirty="0"/>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dirty="0" err="1"/>
                        <a:t>Ms.S.Vaishnavii</a:t>
                      </a:r>
                      <a:r>
                        <a:rPr lang="en-US" sz="1800" dirty="0"/>
                        <a:t> </a:t>
                      </a:r>
                    </a:p>
                    <a:p>
                      <a:pPr marL="0" marR="0" lvl="0" indent="0" algn="l" rtl="0">
                        <a:lnSpc>
                          <a:spcPct val="100000"/>
                        </a:lnSpc>
                        <a:spcBef>
                          <a:spcPts val="0"/>
                        </a:spcBef>
                        <a:spcAft>
                          <a:spcPts val="0"/>
                        </a:spcAft>
                        <a:buClr>
                          <a:schemeClr val="dk1"/>
                        </a:buClr>
                        <a:buSzPts val="1800"/>
                        <a:buFont typeface="Calibri"/>
                        <a:buNone/>
                      </a:pPr>
                      <a:r>
                        <a:rPr lang="en-US" sz="1800" dirty="0"/>
                        <a:t>Assistant Professor ,</a:t>
                      </a:r>
                    </a:p>
                    <a:p>
                      <a:pPr marL="0" marR="0" lvl="0" indent="0" algn="l" rtl="0">
                        <a:lnSpc>
                          <a:spcPct val="100000"/>
                        </a:lnSpc>
                        <a:spcBef>
                          <a:spcPts val="0"/>
                        </a:spcBef>
                        <a:spcAft>
                          <a:spcPts val="0"/>
                        </a:spcAft>
                        <a:buClr>
                          <a:schemeClr val="dk1"/>
                        </a:buClr>
                        <a:buSzPts val="1800"/>
                        <a:buFont typeface="Calibri"/>
                        <a:buNone/>
                      </a:pPr>
                      <a:r>
                        <a:rPr lang="en-US" sz="1800" dirty="0"/>
                        <a:t>DEPARTMENT OF COMPUTER SCIENCE AND ENGINEERING SPECIALIZATION IN CYBER SECURITY ,SRMIST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0001"/>
                  </a:ext>
                </a:extLst>
              </a:tr>
            </a:tbl>
          </a:graphicData>
        </a:graphic>
      </p:graphicFrame>
      <p:sp>
        <p:nvSpPr>
          <p:cNvPr id="7" name="Footer Placeholder 6"/>
          <p:cNvSpPr>
            <a:spLocks noGrp="1"/>
          </p:cNvSpPr>
          <p:nvPr>
            <p:ph type="ftr" sz="quarter" idx="11"/>
          </p:nvPr>
        </p:nvSpPr>
        <p:spPr>
          <a:xfrm>
            <a:off x="457200" y="6388100"/>
            <a:ext cx="8077200" cy="273049"/>
          </a:xfrm>
        </p:spPr>
        <p:txBody>
          <a:bodyPr/>
          <a:lstStyle/>
          <a:p>
            <a:r>
              <a:rPr lang="en-US" dirty="0"/>
              <a:t>12/04/25							1</a:t>
            </a:r>
          </a:p>
          <a:p>
            <a:endParaRPr lang="en-US" dirty="0"/>
          </a:p>
        </p:txBody>
      </p:sp>
      <p:pic>
        <p:nvPicPr>
          <p:cNvPr id="4" name="image1.png">
            <a:extLst>
              <a:ext uri="{FF2B5EF4-FFF2-40B4-BE49-F238E27FC236}">
                <a16:creationId xmlns:a16="http://schemas.microsoft.com/office/drawing/2014/main" id="{E984E744-41A8-DC3F-0C10-54639B71A34F}"/>
              </a:ext>
            </a:extLst>
          </p:cNvPr>
          <p:cNvPicPr/>
          <p:nvPr/>
        </p:nvPicPr>
        <p:blipFill>
          <a:blip r:embed="rId2">
            <a:extLst>
              <a:ext uri="{28A0092B-C50C-407E-A947-70E740481C1C}">
                <a14:useLocalDpi xmlns:a14="http://schemas.microsoft.com/office/drawing/2010/main" val="0"/>
              </a:ext>
            </a:extLst>
          </a:blip>
          <a:srcRect/>
          <a:stretch>
            <a:fillRect/>
          </a:stretch>
        </p:blipFill>
        <p:spPr>
          <a:xfrm>
            <a:off x="533400" y="597959"/>
            <a:ext cx="1447800" cy="914400"/>
          </a:xfrm>
          <a:prstGeom prst="rect">
            <a:avLst/>
          </a:prstGeom>
          <a:ln/>
        </p:spPr>
      </p:pic>
    </p:spTree>
    <p:extLst>
      <p:ext uri="{BB962C8B-B14F-4D97-AF65-F5344CB8AC3E}">
        <p14:creationId xmlns:p14="http://schemas.microsoft.com/office/powerpoint/2010/main" val="517058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Agenda</a:t>
            </a:r>
          </a:p>
        </p:txBody>
      </p:sp>
      <p:sp>
        <p:nvSpPr>
          <p:cNvPr id="3" name="Content Placeholder 2"/>
          <p:cNvSpPr>
            <a:spLocks noGrp="1"/>
          </p:cNvSpPr>
          <p:nvPr>
            <p:ph idx="1"/>
          </p:nvPr>
        </p:nvSpPr>
        <p:spPr/>
        <p:txBody>
          <a:bodyPr>
            <a:normAutofit fontScale="70000" lnSpcReduction="20000"/>
          </a:bodyPr>
          <a:lstStyle/>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Abstract</a:t>
            </a:r>
            <a:endParaRPr lang="en-US" sz="1800" b="0" i="0" u="none" strike="noStrike" dirty="0">
              <a:solidFill>
                <a:srgbClr val="000000"/>
              </a:solidFill>
              <a:effectLst/>
              <a:latin typeface="Arial" panose="020B0604020202020204" pitchFamily="34" charset="0"/>
            </a:endParaRP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Scope and Motivation</a:t>
            </a:r>
            <a:endParaRPr lang="en-US" sz="1800" b="0" i="0" u="none" strike="noStrike" dirty="0">
              <a:solidFill>
                <a:srgbClr val="000000"/>
              </a:solidFill>
              <a:effectLst/>
              <a:latin typeface="Arial" panose="020B0604020202020204" pitchFamily="34" charset="0"/>
            </a:endParaRPr>
          </a:p>
          <a:p>
            <a:pPr rtl="0" fontAlgn="base">
              <a:spcBef>
                <a:spcPts val="1000"/>
              </a:spcBef>
              <a:spcAft>
                <a:spcPts val="0"/>
              </a:spcAft>
              <a:buFont typeface="Arial" panose="020B0604020202020204" pitchFamily="34" charset="0"/>
              <a:buChar char="•"/>
            </a:pPr>
            <a:r>
              <a:rPr lang="en-US" sz="1800" dirty="0">
                <a:solidFill>
                  <a:srgbClr val="000000"/>
                </a:solidFill>
                <a:latin typeface="Calibri" panose="020F0502020204030204" pitchFamily="34" charset="0"/>
              </a:rPr>
              <a:t>Introduction</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Literature Survey</a:t>
            </a:r>
          </a:p>
          <a:p>
            <a:pPr rtl="0" fontAlgn="base">
              <a:spcBef>
                <a:spcPts val="1000"/>
              </a:spcBef>
              <a:spcAft>
                <a:spcPts val="0"/>
              </a:spcAft>
              <a:buFont typeface="Arial" panose="020B0604020202020204" pitchFamily="34" charset="0"/>
              <a:buChar char="•"/>
            </a:pPr>
            <a:r>
              <a:rPr lang="en-US" sz="1800" dirty="0">
                <a:solidFill>
                  <a:srgbClr val="000000"/>
                </a:solidFill>
                <a:latin typeface="Calibri" panose="020F0502020204030204" pitchFamily="34" charset="0"/>
              </a:rPr>
              <a:t>Objectives</a:t>
            </a:r>
            <a:endParaRPr lang="en-US" sz="1800" b="0" i="0" u="none" strike="noStrike" dirty="0">
              <a:solidFill>
                <a:srgbClr val="000000"/>
              </a:solidFill>
              <a:effectLst/>
              <a:latin typeface="Calibri" panose="020F0502020204030204" pitchFamily="34" charset="0"/>
            </a:endParaRPr>
          </a:p>
          <a:p>
            <a:pPr rtl="0" fontAlgn="base">
              <a:spcBef>
                <a:spcPts val="1000"/>
              </a:spcBef>
              <a:spcAft>
                <a:spcPts val="0"/>
              </a:spcAft>
              <a:buFont typeface="Arial" panose="020B0604020202020204" pitchFamily="34" charset="0"/>
              <a:buChar char="•"/>
            </a:pPr>
            <a:r>
              <a:rPr lang="en-US" sz="1800" dirty="0">
                <a:solidFill>
                  <a:srgbClr val="000000"/>
                </a:solidFill>
                <a:latin typeface="Calibri" panose="020F0502020204030204" pitchFamily="34" charset="0"/>
              </a:rPr>
              <a:t>Problem Statement</a:t>
            </a:r>
          </a:p>
          <a:p>
            <a:pPr rtl="0" fontAlgn="base">
              <a:spcBef>
                <a:spcPts val="1000"/>
              </a:spcBef>
              <a:spcAft>
                <a:spcPts val="0"/>
              </a:spcAft>
              <a:buFont typeface="Arial" panose="020B0604020202020204" pitchFamily="34" charset="0"/>
              <a:buChar char="•"/>
            </a:pPr>
            <a:r>
              <a:rPr lang="en-US" sz="1800" dirty="0">
                <a:solidFill>
                  <a:srgbClr val="000000"/>
                </a:solidFill>
                <a:latin typeface="Calibri" panose="020F0502020204030204" pitchFamily="34" charset="0"/>
              </a:rPr>
              <a:t>Proposed Work</a:t>
            </a:r>
          </a:p>
          <a:p>
            <a:pPr lvl="1" fontAlgn="base">
              <a:spcBef>
                <a:spcPts val="1000"/>
              </a:spcBef>
              <a:buFont typeface="Arial" panose="020B0604020202020204" pitchFamily="34" charset="0"/>
              <a:buChar char="•"/>
            </a:pPr>
            <a:r>
              <a:rPr lang="en-US" sz="1400" b="0" i="0" u="none" strike="noStrike" dirty="0">
                <a:solidFill>
                  <a:srgbClr val="000000"/>
                </a:solidFill>
                <a:effectLst/>
                <a:latin typeface="Calibri" panose="020F0502020204030204" pitchFamily="34" charset="0"/>
              </a:rPr>
              <a:t>Architecture Diagram/Block Diagram</a:t>
            </a:r>
          </a:p>
          <a:p>
            <a:pPr lvl="1" fontAlgn="base">
              <a:spcBef>
                <a:spcPts val="1000"/>
              </a:spcBef>
              <a:buFont typeface="Arial" panose="020B0604020202020204" pitchFamily="34" charset="0"/>
              <a:buChar char="•"/>
            </a:pPr>
            <a:r>
              <a:rPr lang="en-US" sz="1400" dirty="0">
                <a:solidFill>
                  <a:srgbClr val="000000"/>
                </a:solidFill>
                <a:latin typeface="Calibri" panose="020F0502020204030204" pitchFamily="34" charset="0"/>
              </a:rPr>
              <a:t>Novel idea</a:t>
            </a:r>
          </a:p>
          <a:p>
            <a:pPr lvl="1" fontAlgn="base">
              <a:spcBef>
                <a:spcPts val="1000"/>
              </a:spcBef>
              <a:buFont typeface="Arial" panose="020B0604020202020204" pitchFamily="34" charset="0"/>
              <a:buChar char="•"/>
            </a:pPr>
            <a:r>
              <a:rPr lang="en-US" sz="1400" dirty="0">
                <a:solidFill>
                  <a:srgbClr val="000000"/>
                </a:solidFill>
                <a:latin typeface="Calibri" panose="020F0502020204030204" pitchFamily="34" charset="0"/>
              </a:rPr>
              <a:t>Modules</a:t>
            </a:r>
          </a:p>
          <a:p>
            <a:pPr lvl="1" fontAlgn="base">
              <a:spcBef>
                <a:spcPts val="1000"/>
              </a:spcBef>
              <a:buFont typeface="Arial" panose="020B0604020202020204" pitchFamily="34" charset="0"/>
              <a:buChar char="•"/>
            </a:pPr>
            <a:r>
              <a:rPr lang="en-US" sz="1400" dirty="0">
                <a:solidFill>
                  <a:srgbClr val="000000"/>
                </a:solidFill>
                <a:latin typeface="Calibri" panose="020F0502020204030204" pitchFamily="34" charset="0"/>
              </a:rPr>
              <a:t>Module Description</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Software &amp; Hardware Requirements</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Results and Discussion-Comparison with Existing Work</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Conclusion</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Future Work</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References </a:t>
            </a:r>
            <a:endParaRPr lang="en-US" sz="1800" dirty="0">
              <a:solidFill>
                <a:srgbClr val="000000"/>
              </a:solidFill>
              <a:latin typeface="Calibri" panose="020F0502020204030204" pitchFamily="34" charset="0"/>
            </a:endParaRPr>
          </a:p>
        </p:txBody>
      </p:sp>
      <p:sp>
        <p:nvSpPr>
          <p:cNvPr id="4" name="Footer Placeholder 3"/>
          <p:cNvSpPr>
            <a:spLocks noGrp="1"/>
          </p:cNvSpPr>
          <p:nvPr>
            <p:ph type="ftr" sz="quarter" idx="11"/>
          </p:nvPr>
        </p:nvSpPr>
        <p:spPr>
          <a:xfrm>
            <a:off x="1981200" y="6346538"/>
            <a:ext cx="7086600" cy="425450"/>
          </a:xfrm>
        </p:spPr>
        <p:txBody>
          <a:bodyPr/>
          <a:lstStyle/>
          <a:p>
            <a:r>
              <a:rPr lang="en-US" dirty="0"/>
              <a:t>DEPARTMENT OF COMPUTER SCIENCE AND ENGINEERING SPECIALIZATION IN CYBER SECURITY        SLIDE NO: 2</a:t>
            </a:r>
          </a:p>
        </p:txBody>
      </p:sp>
      <p:pic>
        <p:nvPicPr>
          <p:cNvPr id="5" name="image1.png">
            <a:extLst>
              <a:ext uri="{FF2B5EF4-FFF2-40B4-BE49-F238E27FC236}">
                <a16:creationId xmlns:a16="http://schemas.microsoft.com/office/drawing/2014/main" id="{F3A0B92D-CCBA-FA65-C453-065A95350C99}"/>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27653" y="274638"/>
            <a:ext cx="1447800" cy="914400"/>
          </a:xfrm>
          <a:prstGeom prst="rect">
            <a:avLst/>
          </a:prstGeom>
          <a:ln/>
        </p:spPr>
      </p:pic>
      <p:sp>
        <p:nvSpPr>
          <p:cNvPr id="6" name="TextBox 5">
            <a:extLst>
              <a:ext uri="{FF2B5EF4-FFF2-40B4-BE49-F238E27FC236}">
                <a16:creationId xmlns:a16="http://schemas.microsoft.com/office/drawing/2014/main" id="{E084DCB9-F147-70AC-7C2D-C329BB98DEF9}"/>
              </a:ext>
            </a:extLst>
          </p:cNvPr>
          <p:cNvSpPr txBox="1"/>
          <p:nvPr/>
        </p:nvSpPr>
        <p:spPr>
          <a:xfrm>
            <a:off x="-152400" y="626687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4235830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ABSTRACT</a:t>
            </a:r>
          </a:p>
        </p:txBody>
      </p:sp>
      <p:sp>
        <p:nvSpPr>
          <p:cNvPr id="3" name="Content Placeholder 2"/>
          <p:cNvSpPr>
            <a:spLocks noGrp="1"/>
          </p:cNvSpPr>
          <p:nvPr>
            <p:ph idx="1"/>
          </p:nvPr>
        </p:nvSpPr>
        <p:spPr/>
        <p:txBody>
          <a:bodyPr>
            <a:normAutofit fontScale="70000" lnSpcReduction="20000"/>
          </a:bodyPr>
          <a:lstStyle/>
          <a:p>
            <a:pPr marL="0" indent="0" algn="just">
              <a:buNone/>
            </a:pPr>
            <a:r>
              <a:rPr lang="en-US" dirty="0">
                <a:latin typeface="Times New Roman" panose="02020603050405020304" pitchFamily="18" charset="0"/>
                <a:cs typeface="Times New Roman" panose="02020603050405020304" pitchFamily="18" charset="0"/>
              </a:rPr>
              <a:t>With the rapid rise of cybersecurity threats, efficient and accessible malware analysis tools are crucial for security analysts and organizations. Many existing tools are either overly complex, depend on internet connectivity, or lack a modular structure, limiting their usability in offline scenarios. Payload Decoder is a lightweight, Python-based malware analysis tool designed to address these challenges by offering static analysis, metadata extraction, and Indicator of Compromise (IOC) detection within a single platform. It features pattern-based IOC detection using YARA rules and hash verification for identifying known threats, enhancing threat detection accuracy. Built with a modular architecture, Payload Decoder ensures scalability and ease of integration, making it a multi-platform, user-friendly solution for rapid offline malware analysis.</a:t>
            </a:r>
          </a:p>
        </p:txBody>
      </p:sp>
      <p:sp>
        <p:nvSpPr>
          <p:cNvPr id="5" name="Footer Placeholder 3">
            <a:extLst>
              <a:ext uri="{FF2B5EF4-FFF2-40B4-BE49-F238E27FC236}">
                <a16:creationId xmlns:a16="http://schemas.microsoft.com/office/drawing/2014/main" id="{179DD984-7E6A-179F-4DEB-1FA7E902AABB}"/>
              </a:ext>
            </a:extLst>
          </p:cNvPr>
          <p:cNvSpPr>
            <a:spLocks noGrp="1"/>
          </p:cNvSpPr>
          <p:nvPr>
            <p:ph type="ftr" sz="quarter" idx="11"/>
          </p:nvPr>
        </p:nvSpPr>
        <p:spPr>
          <a:xfrm>
            <a:off x="1752600" y="6346538"/>
            <a:ext cx="7239000" cy="425450"/>
          </a:xfrm>
        </p:spPr>
        <p:txBody>
          <a:bodyPr/>
          <a:lstStyle/>
          <a:p>
            <a:r>
              <a:rPr lang="en-US" dirty="0"/>
              <a:t>DEPARTMENT OF COMPUTER SCIENCE AND ENGINEERING SPECIALIZATION IN CYBER SECURITY       SLIDE NO: 3</a:t>
            </a:r>
          </a:p>
        </p:txBody>
      </p:sp>
      <p:pic>
        <p:nvPicPr>
          <p:cNvPr id="4" name="image1.png">
            <a:extLst>
              <a:ext uri="{FF2B5EF4-FFF2-40B4-BE49-F238E27FC236}">
                <a16:creationId xmlns:a16="http://schemas.microsoft.com/office/drawing/2014/main" id="{3563F6F3-7BAC-B9A3-5BB7-D523F7486525}"/>
              </a:ext>
            </a:extLst>
          </p:cNvPr>
          <p:cNvPicPr/>
          <p:nvPr/>
        </p:nvPicPr>
        <p:blipFill>
          <a:blip r:embed="rId3">
            <a:extLst>
              <a:ext uri="{28A0092B-C50C-407E-A947-70E740481C1C}">
                <a14:useLocalDpi xmlns:a14="http://schemas.microsoft.com/office/drawing/2010/main" val="0"/>
              </a:ext>
            </a:extLst>
          </a:blip>
          <a:srcRect/>
          <a:stretch>
            <a:fillRect/>
          </a:stretch>
        </p:blipFill>
        <p:spPr>
          <a:xfrm>
            <a:off x="482082" y="262197"/>
            <a:ext cx="1447800" cy="914400"/>
          </a:xfrm>
          <a:prstGeom prst="rect">
            <a:avLst/>
          </a:prstGeom>
          <a:ln/>
        </p:spPr>
      </p:pic>
      <p:sp>
        <p:nvSpPr>
          <p:cNvPr id="6" name="TextBox 5">
            <a:extLst>
              <a:ext uri="{FF2B5EF4-FFF2-40B4-BE49-F238E27FC236}">
                <a16:creationId xmlns:a16="http://schemas.microsoft.com/office/drawing/2014/main" id="{0C0EE9D6-BE81-525A-78ED-27C9C179C8F1}"/>
              </a:ext>
            </a:extLst>
          </p:cNvPr>
          <p:cNvSpPr txBox="1"/>
          <p:nvPr/>
        </p:nvSpPr>
        <p:spPr>
          <a:xfrm>
            <a:off x="-228600" y="626687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468812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13C5-35C8-DD13-0169-F08568FB1DF9}"/>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3D796DD2-E023-A768-5C91-3614BF6A8691}"/>
              </a:ext>
            </a:extLst>
          </p:cNvPr>
          <p:cNvSpPr>
            <a:spLocks noGrp="1"/>
          </p:cNvSpPr>
          <p:nvPr>
            <p:ph idx="1"/>
          </p:nvPr>
        </p:nvSpPr>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Cyber threats are evolving rapidly, making it essential for cybersecurity professionals to have efficient malware detection tools. Traditional malware analysis tools often rely on cloud-based detection, making them unsuitable for secure or air-gapped environments. Many tools are also overly complex, limiting accessibility for beginners and small organizations.</a:t>
            </a:r>
          </a:p>
          <a:p>
            <a:pPr algn="just"/>
            <a:r>
              <a:rPr lang="en-US" dirty="0">
                <a:latin typeface="Times New Roman" panose="02020603050405020304" pitchFamily="18" charset="0"/>
                <a:cs typeface="Times New Roman" panose="02020603050405020304" pitchFamily="18" charset="0"/>
              </a:rPr>
              <a:t>Payload Decoder is designed to address these challenges by offering a lightweight, Python-based tool that performs static analysis, metadata extraction, and Indicators of Compromise (IOC) detection in an offline environment. With a user-friendly interface, modular architecture, and multi-platform support, it empowers cybersecurity analysts, students, and researchers with an efficient and scalable malware analysis tool</a:t>
            </a:r>
          </a:p>
          <a:p>
            <a:pPr algn="just"/>
            <a:endParaRPr lang="en-IN" dirty="0"/>
          </a:p>
        </p:txBody>
      </p:sp>
      <p:sp>
        <p:nvSpPr>
          <p:cNvPr id="5" name="Footer Placeholder 3">
            <a:extLst>
              <a:ext uri="{FF2B5EF4-FFF2-40B4-BE49-F238E27FC236}">
                <a16:creationId xmlns:a16="http://schemas.microsoft.com/office/drawing/2014/main" id="{A2442A23-3216-4045-BF50-119575D27863}"/>
              </a:ext>
            </a:extLst>
          </p:cNvPr>
          <p:cNvSpPr>
            <a:spLocks noGrp="1"/>
          </p:cNvSpPr>
          <p:nvPr>
            <p:ph type="ftr" sz="quarter" idx="11"/>
          </p:nvPr>
        </p:nvSpPr>
        <p:spPr>
          <a:xfrm>
            <a:off x="1966753" y="6321015"/>
            <a:ext cx="7010400" cy="425450"/>
          </a:xfrm>
        </p:spPr>
        <p:txBody>
          <a:bodyPr/>
          <a:lstStyle/>
          <a:p>
            <a:r>
              <a:rPr lang="en-US" dirty="0"/>
              <a:t>DEPARTMENT OF COMPUTER SCIENCE AND ENGINEERING SPECIALIZATION IN CYBER SECURITY     SLIDE NO: 5</a:t>
            </a:r>
          </a:p>
        </p:txBody>
      </p:sp>
      <p:pic>
        <p:nvPicPr>
          <p:cNvPr id="4" name="image1.png">
            <a:extLst>
              <a:ext uri="{FF2B5EF4-FFF2-40B4-BE49-F238E27FC236}">
                <a16:creationId xmlns:a16="http://schemas.microsoft.com/office/drawing/2014/main" id="{DB75723D-8314-48FA-C0EE-B34909B2610C}"/>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82082" y="388938"/>
            <a:ext cx="1447800" cy="914400"/>
          </a:xfrm>
          <a:prstGeom prst="rect">
            <a:avLst/>
          </a:prstGeom>
          <a:ln/>
        </p:spPr>
      </p:pic>
      <p:sp>
        <p:nvSpPr>
          <p:cNvPr id="6" name="TextBox 5">
            <a:extLst>
              <a:ext uri="{FF2B5EF4-FFF2-40B4-BE49-F238E27FC236}">
                <a16:creationId xmlns:a16="http://schemas.microsoft.com/office/drawing/2014/main" id="{40466CEC-C053-1B0D-1DA0-8898DD2BB1B1}"/>
              </a:ext>
            </a:extLst>
          </p:cNvPr>
          <p:cNvSpPr txBox="1"/>
          <p:nvPr/>
        </p:nvSpPr>
        <p:spPr>
          <a:xfrm>
            <a:off x="-152400" y="6161690"/>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4025045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EE3B-EF69-0977-AFB9-235BDA5C72E9}"/>
              </a:ext>
            </a:extLst>
          </p:cNvPr>
          <p:cNvSpPr>
            <a:spLocks noGrp="1"/>
          </p:cNvSpPr>
          <p:nvPr>
            <p:ph type="title"/>
          </p:nvPr>
        </p:nvSpPr>
        <p:spPr/>
        <p:txBody>
          <a:bodyPr/>
          <a:lstStyle/>
          <a:p>
            <a:r>
              <a:rPr lang="en-US" dirty="0"/>
              <a:t>Scope and Motivation</a:t>
            </a:r>
            <a:endParaRPr lang="en-IN" dirty="0"/>
          </a:p>
        </p:txBody>
      </p:sp>
      <p:sp>
        <p:nvSpPr>
          <p:cNvPr id="3" name="Content Placeholder 2">
            <a:extLst>
              <a:ext uri="{FF2B5EF4-FFF2-40B4-BE49-F238E27FC236}">
                <a16:creationId xmlns:a16="http://schemas.microsoft.com/office/drawing/2014/main" id="{019A989F-FD18-DCF6-CF7A-D71DEBBB3FF4}"/>
              </a:ext>
            </a:extLst>
          </p:cNvPr>
          <p:cNvSpPr>
            <a:spLocks noGrp="1"/>
          </p:cNvSpPr>
          <p:nvPr>
            <p:ph idx="1"/>
          </p:nvPr>
        </p:nvSpPr>
        <p:spPr>
          <a:xfrm>
            <a:off x="471948" y="1405348"/>
            <a:ext cx="8229600" cy="4525963"/>
          </a:xfrm>
        </p:spPr>
        <p:txBody>
          <a:bodyPr>
            <a:noAutofit/>
          </a:bodyPr>
          <a:lstStyle/>
          <a:p>
            <a:pPr marL="0" lvl="0" indent="0" algn="just" rtl="0">
              <a:spcBef>
                <a:spcPts val="0"/>
              </a:spcBef>
              <a:spcAft>
                <a:spcPts val="0"/>
              </a:spcAft>
              <a:buClr>
                <a:schemeClr val="dk1"/>
              </a:buClr>
              <a:buSzPct val="63442"/>
              <a:buFont typeface="Arial"/>
              <a:buNone/>
            </a:pPr>
            <a:r>
              <a:rPr lang="en-US" sz="1600" b="1" dirty="0">
                <a:latin typeface="Times New Roman" panose="02020603050405020304" pitchFamily="18" charset="0"/>
                <a:ea typeface="Arial"/>
                <a:cs typeface="Times New Roman" panose="02020603050405020304" pitchFamily="18" charset="0"/>
                <a:sym typeface="Arial"/>
              </a:rPr>
              <a:t>Scope</a:t>
            </a:r>
            <a:r>
              <a:rPr lang="en-US" sz="1600" dirty="0">
                <a:latin typeface="Times New Roman" panose="02020603050405020304" pitchFamily="18" charset="0"/>
                <a:ea typeface="Arial"/>
                <a:cs typeface="Times New Roman" panose="02020603050405020304" pitchFamily="18" charset="0"/>
                <a:sym typeface="Arial"/>
              </a:rPr>
              <a:t>:</a:t>
            </a:r>
          </a:p>
          <a:p>
            <a:pPr marL="457200" lvl="0" indent="-322185" algn="just" rtl="0">
              <a:lnSpc>
                <a:spcPct val="115000"/>
              </a:lnSpc>
              <a:spcBef>
                <a:spcPts val="1200"/>
              </a:spcBef>
              <a:spcAft>
                <a:spcPts val="0"/>
              </a:spcAft>
              <a:buSzPct val="100000"/>
              <a:buChar char="●"/>
            </a:pPr>
            <a:r>
              <a:rPr lang="en-US" sz="1600" dirty="0">
                <a:latin typeface="Times New Roman" panose="02020603050405020304" pitchFamily="18" charset="0"/>
                <a:ea typeface="Arial"/>
                <a:cs typeface="Times New Roman" panose="02020603050405020304" pitchFamily="18" charset="0"/>
                <a:sym typeface="Arial"/>
              </a:rPr>
              <a:t>Target users include cybersecurity students, analysts, and small-to-medium enterprises.</a:t>
            </a:r>
          </a:p>
          <a:p>
            <a:pPr marL="457200" lvl="0" indent="-322185" algn="just" rtl="0">
              <a:lnSpc>
                <a:spcPct val="115000"/>
              </a:lnSpc>
              <a:spcBef>
                <a:spcPts val="0"/>
              </a:spcBef>
              <a:spcAft>
                <a:spcPts val="0"/>
              </a:spcAft>
              <a:buSzPct val="100000"/>
              <a:buChar char="●"/>
            </a:pPr>
            <a:r>
              <a:rPr lang="en-US" sz="1600" dirty="0">
                <a:latin typeface="Times New Roman" panose="02020603050405020304" pitchFamily="18" charset="0"/>
                <a:ea typeface="Arial"/>
                <a:cs typeface="Times New Roman" panose="02020603050405020304" pitchFamily="18" charset="0"/>
                <a:sym typeface="Arial"/>
              </a:rPr>
              <a:t>Designed for use in malware analysis labs, incident response teams, and individual cyber security practitioners.</a:t>
            </a:r>
          </a:p>
          <a:p>
            <a:pPr marL="457200" lvl="0" indent="-322185" algn="just" rtl="0">
              <a:lnSpc>
                <a:spcPct val="115000"/>
              </a:lnSpc>
              <a:spcBef>
                <a:spcPts val="0"/>
              </a:spcBef>
              <a:spcAft>
                <a:spcPts val="0"/>
              </a:spcAft>
              <a:buSzPct val="100000"/>
              <a:buChar char="●"/>
            </a:pPr>
            <a:r>
              <a:rPr lang="en-US" sz="1600" dirty="0">
                <a:latin typeface="Times New Roman" panose="02020603050405020304" pitchFamily="18" charset="0"/>
                <a:ea typeface="Arial"/>
                <a:cs typeface="Times New Roman" panose="02020603050405020304" pitchFamily="18" charset="0"/>
                <a:sym typeface="Arial"/>
              </a:rPr>
              <a:t>Compatibility with educational environments and professional use cases.</a:t>
            </a:r>
          </a:p>
          <a:p>
            <a:pPr marL="457200" lvl="0" indent="-322185" algn="just" rtl="0">
              <a:lnSpc>
                <a:spcPct val="115000"/>
              </a:lnSpc>
              <a:spcBef>
                <a:spcPts val="0"/>
              </a:spcBef>
              <a:spcAft>
                <a:spcPts val="0"/>
              </a:spcAft>
              <a:buSzPct val="100000"/>
              <a:buChar char="●"/>
            </a:pPr>
            <a:r>
              <a:rPr lang="en-US" sz="1600" dirty="0">
                <a:latin typeface="Times New Roman" panose="02020603050405020304" pitchFamily="18" charset="0"/>
                <a:ea typeface="Arial"/>
                <a:cs typeface="Times New Roman" panose="02020603050405020304" pitchFamily="18" charset="0"/>
                <a:sym typeface="Arial"/>
              </a:rPr>
              <a:t>Extendable with future integration into other security systems and also be integrated with other tools like antivirus or endpoint security systems.</a:t>
            </a:r>
          </a:p>
          <a:p>
            <a:pPr marL="457200" lvl="0" indent="-322185" algn="just" rtl="0">
              <a:lnSpc>
                <a:spcPct val="115000"/>
              </a:lnSpc>
              <a:spcBef>
                <a:spcPts val="0"/>
              </a:spcBef>
              <a:spcAft>
                <a:spcPts val="0"/>
              </a:spcAft>
              <a:buSzPct val="100000"/>
              <a:buChar char="●"/>
            </a:pPr>
            <a:r>
              <a:rPr lang="en-US" sz="1600" dirty="0">
                <a:latin typeface="Times New Roman" panose="02020603050405020304" pitchFamily="18" charset="0"/>
                <a:ea typeface="Arial"/>
                <a:cs typeface="Times New Roman" panose="02020603050405020304" pitchFamily="18" charset="0"/>
                <a:sym typeface="Arial"/>
              </a:rPr>
              <a:t>Support for analyzing executables, scripts, documents, and other common file types.</a:t>
            </a:r>
          </a:p>
          <a:p>
            <a:pPr marL="0" lvl="0" indent="0" algn="just" rtl="0">
              <a:lnSpc>
                <a:spcPct val="115000"/>
              </a:lnSpc>
              <a:spcBef>
                <a:spcPts val="1200"/>
              </a:spcBef>
              <a:spcAft>
                <a:spcPts val="0"/>
              </a:spcAft>
              <a:buClr>
                <a:schemeClr val="dk1"/>
              </a:buClr>
              <a:buSzPct val="63442"/>
              <a:buNone/>
            </a:pPr>
            <a:r>
              <a:rPr lang="en-US" sz="1600" b="1" dirty="0">
                <a:latin typeface="Times New Roman" panose="02020603050405020304" pitchFamily="18" charset="0"/>
                <a:ea typeface="Arial"/>
                <a:cs typeface="Times New Roman" panose="02020603050405020304" pitchFamily="18" charset="0"/>
                <a:sym typeface="Arial"/>
              </a:rPr>
              <a:t>Motivation</a:t>
            </a:r>
            <a:r>
              <a:rPr lang="en-US" sz="1600" dirty="0">
                <a:latin typeface="Times New Roman" panose="02020603050405020304" pitchFamily="18" charset="0"/>
                <a:ea typeface="Arial"/>
                <a:cs typeface="Times New Roman" panose="02020603050405020304" pitchFamily="18" charset="0"/>
                <a:sym typeface="Arial"/>
              </a:rPr>
              <a:t>:</a:t>
            </a:r>
          </a:p>
          <a:p>
            <a:pPr marL="457200" lvl="0" indent="-322185" algn="just" rtl="0">
              <a:lnSpc>
                <a:spcPct val="115000"/>
              </a:lnSpc>
              <a:spcBef>
                <a:spcPts val="1200"/>
              </a:spcBef>
              <a:spcAft>
                <a:spcPts val="0"/>
              </a:spcAft>
              <a:buSzPct val="100000"/>
              <a:buChar char="●"/>
            </a:pPr>
            <a:r>
              <a:rPr lang="en-US" sz="1600" dirty="0">
                <a:latin typeface="Times New Roman" panose="02020603050405020304" pitchFamily="18" charset="0"/>
                <a:ea typeface="Arial"/>
                <a:cs typeface="Times New Roman" panose="02020603050405020304" pitchFamily="18" charset="0"/>
                <a:sym typeface="Arial"/>
              </a:rPr>
              <a:t>Need for offline solutions for environments with limited or no internet access.</a:t>
            </a:r>
          </a:p>
          <a:p>
            <a:pPr marL="457200" lvl="0" indent="-322185" algn="just" rtl="0">
              <a:lnSpc>
                <a:spcPct val="115000"/>
              </a:lnSpc>
              <a:spcBef>
                <a:spcPts val="0"/>
              </a:spcBef>
              <a:spcAft>
                <a:spcPts val="0"/>
              </a:spcAft>
              <a:buSzPct val="100000"/>
              <a:buChar char="●"/>
            </a:pPr>
            <a:r>
              <a:rPr lang="en-US" sz="1600" dirty="0">
                <a:latin typeface="Times New Roman" panose="02020603050405020304" pitchFamily="18" charset="0"/>
                <a:ea typeface="Arial"/>
                <a:cs typeface="Times New Roman" panose="02020603050405020304" pitchFamily="18" charset="0"/>
                <a:sym typeface="Arial"/>
              </a:rPr>
              <a:t>The need for a tool that bridges the gap between complexity and usability in malware detection.</a:t>
            </a:r>
          </a:p>
          <a:p>
            <a:pPr marL="457200" lvl="0" indent="-322185" algn="just" rtl="0">
              <a:lnSpc>
                <a:spcPct val="115000"/>
              </a:lnSpc>
              <a:spcBef>
                <a:spcPts val="0"/>
              </a:spcBef>
              <a:spcAft>
                <a:spcPts val="0"/>
              </a:spcAft>
              <a:buSzPct val="100000"/>
              <a:buChar char="●"/>
            </a:pPr>
            <a:r>
              <a:rPr lang="en-US" sz="1600" dirty="0">
                <a:latin typeface="Times New Roman" panose="02020603050405020304" pitchFamily="18" charset="0"/>
                <a:ea typeface="Arial"/>
                <a:cs typeface="Times New Roman" panose="02020603050405020304" pitchFamily="18" charset="0"/>
                <a:sym typeface="Arial"/>
              </a:rPr>
              <a:t>Increasing use of malware in cyber warfare and data breaches.</a:t>
            </a:r>
          </a:p>
          <a:p>
            <a:pPr marL="457200" lvl="0" indent="-322185" algn="just" rtl="0">
              <a:lnSpc>
                <a:spcPct val="115000"/>
              </a:lnSpc>
              <a:spcBef>
                <a:spcPts val="0"/>
              </a:spcBef>
              <a:spcAft>
                <a:spcPts val="0"/>
              </a:spcAft>
              <a:buSzPct val="100000"/>
              <a:buChar char="●"/>
            </a:pPr>
            <a:r>
              <a:rPr lang="en-US" sz="1600" dirty="0">
                <a:latin typeface="Times New Roman" panose="02020603050405020304" pitchFamily="18" charset="0"/>
                <a:ea typeface="Arial"/>
                <a:cs typeface="Times New Roman" panose="02020603050405020304" pitchFamily="18" charset="0"/>
                <a:sym typeface="Arial"/>
              </a:rPr>
              <a:t>Desire to empower students, researchers, and small organizations with a powerful yet easy-to-use solution.</a:t>
            </a:r>
          </a:p>
        </p:txBody>
      </p:sp>
      <p:sp>
        <p:nvSpPr>
          <p:cNvPr id="6" name="Footer Placeholder 3">
            <a:extLst>
              <a:ext uri="{FF2B5EF4-FFF2-40B4-BE49-F238E27FC236}">
                <a16:creationId xmlns:a16="http://schemas.microsoft.com/office/drawing/2014/main" id="{9BD2D2FD-5AF0-2F00-A36E-2006A5570466}"/>
              </a:ext>
            </a:extLst>
          </p:cNvPr>
          <p:cNvSpPr>
            <a:spLocks noGrp="1"/>
          </p:cNvSpPr>
          <p:nvPr>
            <p:ph type="ftr" sz="quarter" idx="11"/>
          </p:nvPr>
        </p:nvSpPr>
        <p:spPr>
          <a:xfrm>
            <a:off x="1981200" y="6370637"/>
            <a:ext cx="7086600" cy="425450"/>
          </a:xfrm>
        </p:spPr>
        <p:txBody>
          <a:bodyPr/>
          <a:lstStyle/>
          <a:p>
            <a:r>
              <a:rPr lang="en-US" dirty="0"/>
              <a:t>DEPARTMENT OF COMPUTER SCIENCE AND ENGINEERING SPECIALIZATION IN CYBER SECURITY       SLIDE NO: 4</a:t>
            </a:r>
          </a:p>
        </p:txBody>
      </p:sp>
      <p:pic>
        <p:nvPicPr>
          <p:cNvPr id="4" name="image1.png">
            <a:extLst>
              <a:ext uri="{FF2B5EF4-FFF2-40B4-BE49-F238E27FC236}">
                <a16:creationId xmlns:a16="http://schemas.microsoft.com/office/drawing/2014/main" id="{5136CC50-4C35-7118-8469-BFC12D68D3AB}"/>
              </a:ext>
            </a:extLst>
          </p:cNvPr>
          <p:cNvPicPr/>
          <p:nvPr/>
        </p:nvPicPr>
        <p:blipFill>
          <a:blip r:embed="rId2">
            <a:extLst>
              <a:ext uri="{28A0092B-C50C-407E-A947-70E740481C1C}">
                <a14:useLocalDpi xmlns:a14="http://schemas.microsoft.com/office/drawing/2010/main" val="0"/>
              </a:ext>
            </a:extLst>
          </a:blip>
          <a:srcRect/>
          <a:stretch>
            <a:fillRect/>
          </a:stretch>
        </p:blipFill>
        <p:spPr>
          <a:xfrm>
            <a:off x="228600" y="317500"/>
            <a:ext cx="1447800" cy="914400"/>
          </a:xfrm>
          <a:prstGeom prst="rect">
            <a:avLst/>
          </a:prstGeom>
          <a:ln/>
        </p:spPr>
      </p:pic>
      <p:sp>
        <p:nvSpPr>
          <p:cNvPr id="5" name="TextBox 4">
            <a:extLst>
              <a:ext uri="{FF2B5EF4-FFF2-40B4-BE49-F238E27FC236}">
                <a16:creationId xmlns:a16="http://schemas.microsoft.com/office/drawing/2014/main" id="{BEE36CBD-FDC8-A59E-8642-A75CA59E6F98}"/>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1796913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C4BFA-EF7A-2726-E18D-8EC26A5041F7}"/>
              </a:ext>
            </a:extLst>
          </p:cNvPr>
          <p:cNvSpPr>
            <a:spLocks noGrp="1"/>
          </p:cNvSpPr>
          <p:nvPr>
            <p:ph type="title"/>
          </p:nvPr>
        </p:nvSpPr>
        <p:spPr/>
        <p:txBody>
          <a:bodyPr/>
          <a:lstStyle/>
          <a:p>
            <a:r>
              <a:rPr lang="en-IN" dirty="0"/>
              <a:t>Literature Survey</a:t>
            </a:r>
          </a:p>
        </p:txBody>
      </p:sp>
      <p:graphicFrame>
        <p:nvGraphicFramePr>
          <p:cNvPr id="5" name="Table 5">
            <a:extLst>
              <a:ext uri="{FF2B5EF4-FFF2-40B4-BE49-F238E27FC236}">
                <a16:creationId xmlns:a16="http://schemas.microsoft.com/office/drawing/2014/main" id="{E92485E8-B03D-466E-3351-604518A9B06B}"/>
              </a:ext>
            </a:extLst>
          </p:cNvPr>
          <p:cNvGraphicFramePr>
            <a:graphicFrameLocks noGrp="1"/>
          </p:cNvGraphicFramePr>
          <p:nvPr>
            <p:ph idx="1"/>
          </p:nvPr>
        </p:nvGraphicFramePr>
        <p:xfrm>
          <a:off x="457200" y="1323246"/>
          <a:ext cx="8229600" cy="4925154"/>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118388853"/>
                    </a:ext>
                  </a:extLst>
                </a:gridCol>
                <a:gridCol w="2362200">
                  <a:extLst>
                    <a:ext uri="{9D8B030D-6E8A-4147-A177-3AD203B41FA5}">
                      <a16:colId xmlns:a16="http://schemas.microsoft.com/office/drawing/2014/main" val="2270197206"/>
                    </a:ext>
                  </a:extLst>
                </a:gridCol>
                <a:gridCol w="609600">
                  <a:extLst>
                    <a:ext uri="{9D8B030D-6E8A-4147-A177-3AD203B41FA5}">
                      <a16:colId xmlns:a16="http://schemas.microsoft.com/office/drawing/2014/main" val="2951581292"/>
                    </a:ext>
                  </a:extLst>
                </a:gridCol>
                <a:gridCol w="1752600">
                  <a:extLst>
                    <a:ext uri="{9D8B030D-6E8A-4147-A177-3AD203B41FA5}">
                      <a16:colId xmlns:a16="http://schemas.microsoft.com/office/drawing/2014/main" val="561052809"/>
                    </a:ext>
                  </a:extLst>
                </a:gridCol>
                <a:gridCol w="2819400">
                  <a:extLst>
                    <a:ext uri="{9D8B030D-6E8A-4147-A177-3AD203B41FA5}">
                      <a16:colId xmlns:a16="http://schemas.microsoft.com/office/drawing/2014/main" val="3531675469"/>
                    </a:ext>
                  </a:extLst>
                </a:gridCol>
              </a:tblGrid>
              <a:tr h="771852">
                <a:tc>
                  <a:txBody>
                    <a:bodyPr/>
                    <a:lstStyle/>
                    <a:p>
                      <a:r>
                        <a:rPr lang="en-IN" dirty="0" err="1"/>
                        <a:t>S.No</a:t>
                      </a:r>
                      <a:r>
                        <a:rPr lang="en-IN" dirty="0"/>
                        <a:t>.</a:t>
                      </a:r>
                    </a:p>
                  </a:txBody>
                  <a:tcPr/>
                </a:tc>
                <a:tc>
                  <a:txBody>
                    <a:bodyPr/>
                    <a:lstStyle/>
                    <a:p>
                      <a:r>
                        <a:rPr lang="en-IN" dirty="0"/>
                        <a:t>Title of the Paper</a:t>
                      </a:r>
                    </a:p>
                  </a:txBody>
                  <a:tcPr/>
                </a:tc>
                <a:tc>
                  <a:txBody>
                    <a:bodyPr/>
                    <a:lstStyle/>
                    <a:p>
                      <a:r>
                        <a:rPr lang="en-IN" dirty="0"/>
                        <a:t>Year</a:t>
                      </a:r>
                    </a:p>
                  </a:txBody>
                  <a:tcPr/>
                </a:tc>
                <a:tc>
                  <a:txBody>
                    <a:bodyPr/>
                    <a:lstStyle/>
                    <a:p>
                      <a:r>
                        <a:rPr lang="en-IN" dirty="0"/>
                        <a:t>Journal/Conference Name</a:t>
                      </a:r>
                    </a:p>
                  </a:txBody>
                  <a:tcPr/>
                </a:tc>
                <a:tc>
                  <a:txBody>
                    <a:bodyPr/>
                    <a:lstStyle/>
                    <a:p>
                      <a:r>
                        <a:rPr lang="en-IN" dirty="0"/>
                        <a:t>Inferences</a:t>
                      </a:r>
                    </a:p>
                  </a:txBody>
                  <a:tcPr/>
                </a:tc>
                <a:extLst>
                  <a:ext uri="{0D108BD9-81ED-4DB2-BD59-A6C34878D82A}">
                    <a16:rowId xmlns:a16="http://schemas.microsoft.com/office/drawing/2014/main" val="2280627976"/>
                  </a:ext>
                </a:extLst>
              </a:tr>
              <a:tr h="1580460">
                <a:tc>
                  <a:txBody>
                    <a:bodyPr/>
                    <a:lstStyle/>
                    <a:p>
                      <a:r>
                        <a:rPr lang="en-IN" sz="1600" dirty="0">
                          <a:latin typeface="Times New Roman" panose="02020603050405020304" pitchFamily="18" charset="0"/>
                          <a:cs typeface="Times New Roman" panose="02020603050405020304" pitchFamily="18" charset="0"/>
                        </a:rPr>
                        <a:t>    1</a:t>
                      </a:r>
                    </a:p>
                  </a:txBody>
                  <a:tcPr/>
                </a:tc>
                <a:tc>
                  <a:txBody>
                    <a:bodyPr/>
                    <a:lstStyle/>
                    <a:p>
                      <a:r>
                        <a:rPr lang="en-US" sz="1600" dirty="0">
                          <a:latin typeface="Times New Roman" panose="02020603050405020304" pitchFamily="18" charset="0"/>
                          <a:cs typeface="Times New Roman" panose="02020603050405020304" pitchFamily="18" charset="0"/>
                        </a:rPr>
                        <a:t>Fast and Efficient Malware Detection with Joint Static and Dynamic Features Through Transfer Learning</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022</a:t>
                      </a:r>
                    </a:p>
                  </a:txBody>
                  <a:tcPr/>
                </a:tc>
                <a:tc>
                  <a:txBody>
                    <a:bodyPr/>
                    <a:lstStyle/>
                    <a:p>
                      <a:r>
                        <a:rPr lang="en-IN"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arXiv</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Showcasing how hybrid methods improve accuracy and efficiency.</a:t>
                      </a:r>
                    </a:p>
                  </a:txBody>
                  <a:tcPr/>
                </a:tc>
                <a:extLst>
                  <a:ext uri="{0D108BD9-81ED-4DB2-BD59-A6C34878D82A}">
                    <a16:rowId xmlns:a16="http://schemas.microsoft.com/office/drawing/2014/main" val="3998672782"/>
                  </a:ext>
                </a:extLst>
              </a:tr>
              <a:tr h="1286421">
                <a:tc>
                  <a:txBody>
                    <a:bodyPr/>
                    <a:lstStyle/>
                    <a:p>
                      <a:r>
                        <a:rPr lang="en-IN" sz="1600" dirty="0">
                          <a:latin typeface="Times New Roman" panose="02020603050405020304" pitchFamily="18" charset="0"/>
                          <a:cs typeface="Times New Roman" panose="02020603050405020304" pitchFamily="18" charset="0"/>
                        </a:rPr>
                        <a:t>   2</a:t>
                      </a:r>
                    </a:p>
                  </a:txBody>
                  <a:tcPr/>
                </a:tc>
                <a:tc>
                  <a:txBody>
                    <a:bodyPr/>
                    <a:lstStyle/>
                    <a:p>
                      <a:r>
                        <a:rPr lang="en-US" sz="1600" dirty="0"/>
                        <a:t>A Comparison of Static, Dynamic, and Hybrid Analysis for Malware Detection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022</a:t>
                      </a:r>
                    </a:p>
                  </a:txBody>
                  <a:tcPr/>
                </a:tc>
                <a:tc>
                  <a:txBody>
                    <a:bodyPr/>
                    <a:lstStyle/>
                    <a:p>
                      <a:r>
                        <a:rPr lang="en-IN" sz="1600" dirty="0">
                          <a:latin typeface="Times New Roman" panose="02020603050405020304" pitchFamily="18" charset="0"/>
                          <a:cs typeface="Times New Roman" panose="02020603050405020304" pitchFamily="18" charset="0"/>
                        </a:rPr>
                        <a:t> </a:t>
                      </a:r>
                      <a:r>
                        <a:rPr lang="en-IN" sz="1600" dirty="0" err="1"/>
                        <a:t>arXiv</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t>Finds dynamic analysis more effective than static analysis but suggests hybrid approaches for better accuracy.</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2395555"/>
                  </a:ext>
                </a:extLst>
              </a:tr>
              <a:tr h="1286421">
                <a:tc>
                  <a:txBody>
                    <a:bodyPr/>
                    <a:lstStyle/>
                    <a:p>
                      <a:r>
                        <a:rPr lang="en-IN" sz="1600" dirty="0">
                          <a:latin typeface="Times New Roman" panose="02020603050405020304" pitchFamily="18" charset="0"/>
                          <a:cs typeface="Times New Roman" panose="02020603050405020304" pitchFamily="18" charset="0"/>
                        </a:rPr>
                        <a:t>   3</a:t>
                      </a:r>
                    </a:p>
                  </a:txBody>
                  <a:tcPr/>
                </a:tc>
                <a:tc>
                  <a:txBody>
                    <a:bodyPr/>
                    <a:lstStyle/>
                    <a:p>
                      <a:r>
                        <a:rPr lang="en-US" sz="1600" dirty="0"/>
                        <a:t>Comparative Review of Malware Analysis Methodologies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021</a:t>
                      </a:r>
                    </a:p>
                  </a:txBody>
                  <a:tcPr/>
                </a:tc>
                <a:tc>
                  <a:txBody>
                    <a:bodyPr/>
                    <a:lstStyle/>
                    <a:p>
                      <a:r>
                        <a:rPr lang="en-IN" sz="1600" dirty="0" err="1"/>
                        <a:t>arXiv</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t>Examines structured malware analysis methodologies, comparing their effectiveness in detecting modern threats.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14607786"/>
                  </a:ext>
                </a:extLst>
              </a:tr>
            </a:tbl>
          </a:graphicData>
        </a:graphic>
      </p:graphicFrame>
      <p:sp>
        <p:nvSpPr>
          <p:cNvPr id="4" name="Footer Placeholder 3">
            <a:extLst>
              <a:ext uri="{FF2B5EF4-FFF2-40B4-BE49-F238E27FC236}">
                <a16:creationId xmlns:a16="http://schemas.microsoft.com/office/drawing/2014/main" id="{8FEB1930-5961-06BA-9BF9-0FC3F96FA322}"/>
              </a:ext>
            </a:extLst>
          </p:cNvPr>
          <p:cNvSpPr>
            <a:spLocks noGrp="1"/>
          </p:cNvSpPr>
          <p:nvPr>
            <p:ph type="ftr" sz="quarter" idx="11"/>
          </p:nvPr>
        </p:nvSpPr>
        <p:spPr>
          <a:xfrm>
            <a:off x="1981200" y="6400799"/>
            <a:ext cx="6934200" cy="365125"/>
          </a:xfrm>
        </p:spPr>
        <p:txBody>
          <a:bodyPr/>
          <a:lstStyle/>
          <a:p>
            <a:r>
              <a:rPr lang="en-US" dirty="0"/>
              <a:t>DEPARTMENT OF COMPUTER SCIENCE AND ENGINEERING SPECIALIZATION IN CYBER SECURITY    SLIDE NO:6</a:t>
            </a:r>
          </a:p>
        </p:txBody>
      </p:sp>
      <p:pic>
        <p:nvPicPr>
          <p:cNvPr id="3" name="image1.png">
            <a:extLst>
              <a:ext uri="{FF2B5EF4-FFF2-40B4-BE49-F238E27FC236}">
                <a16:creationId xmlns:a16="http://schemas.microsoft.com/office/drawing/2014/main" id="{D948EB2A-17B7-0AA8-E0FC-090BF7EC1325}"/>
              </a:ext>
            </a:extLst>
          </p:cNvPr>
          <p:cNvPicPr/>
          <p:nvPr/>
        </p:nvPicPr>
        <p:blipFill>
          <a:blip r:embed="rId2">
            <a:extLst>
              <a:ext uri="{28A0092B-C50C-407E-A947-70E740481C1C}">
                <a14:useLocalDpi xmlns:a14="http://schemas.microsoft.com/office/drawing/2010/main" val="0"/>
              </a:ext>
            </a:extLst>
          </a:blip>
          <a:srcRect/>
          <a:stretch>
            <a:fillRect/>
          </a:stretch>
        </p:blipFill>
        <p:spPr>
          <a:xfrm>
            <a:off x="304800" y="152400"/>
            <a:ext cx="1447800" cy="914400"/>
          </a:xfrm>
          <a:prstGeom prst="rect">
            <a:avLst/>
          </a:prstGeom>
          <a:ln/>
        </p:spPr>
      </p:pic>
      <p:sp>
        <p:nvSpPr>
          <p:cNvPr id="6" name="TextBox 5">
            <a:extLst>
              <a:ext uri="{FF2B5EF4-FFF2-40B4-BE49-F238E27FC236}">
                <a16:creationId xmlns:a16="http://schemas.microsoft.com/office/drawing/2014/main" id="{99DD47F7-FA8F-888B-10B3-C3D936DABFF3}"/>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753461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18C2D-45B4-2FFA-3C19-BD1769AD0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5F62C-C38A-1B3A-3834-6621A8A9C7D0}"/>
              </a:ext>
            </a:extLst>
          </p:cNvPr>
          <p:cNvSpPr>
            <a:spLocks noGrp="1"/>
          </p:cNvSpPr>
          <p:nvPr>
            <p:ph type="title"/>
          </p:nvPr>
        </p:nvSpPr>
        <p:spPr/>
        <p:txBody>
          <a:bodyPr/>
          <a:lstStyle/>
          <a:p>
            <a:r>
              <a:rPr lang="en-IN" dirty="0"/>
              <a:t>Literature Survey</a:t>
            </a:r>
          </a:p>
        </p:txBody>
      </p:sp>
      <p:graphicFrame>
        <p:nvGraphicFramePr>
          <p:cNvPr id="5" name="Table 5">
            <a:extLst>
              <a:ext uri="{FF2B5EF4-FFF2-40B4-BE49-F238E27FC236}">
                <a16:creationId xmlns:a16="http://schemas.microsoft.com/office/drawing/2014/main" id="{B26F826F-B776-927D-4A34-87CA2A169383}"/>
              </a:ext>
            </a:extLst>
          </p:cNvPr>
          <p:cNvGraphicFramePr>
            <a:graphicFrameLocks noGrp="1"/>
          </p:cNvGraphicFramePr>
          <p:nvPr>
            <p:ph idx="1"/>
            <p:extLst>
              <p:ext uri="{D42A27DB-BD31-4B8C-83A1-F6EECF244321}">
                <p14:modId xmlns:p14="http://schemas.microsoft.com/office/powerpoint/2010/main" val="2372432483"/>
              </p:ext>
            </p:extLst>
          </p:nvPr>
        </p:nvGraphicFramePr>
        <p:xfrm>
          <a:off x="457200" y="1249043"/>
          <a:ext cx="8229600" cy="505968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118388853"/>
                    </a:ext>
                  </a:extLst>
                </a:gridCol>
                <a:gridCol w="2362200">
                  <a:extLst>
                    <a:ext uri="{9D8B030D-6E8A-4147-A177-3AD203B41FA5}">
                      <a16:colId xmlns:a16="http://schemas.microsoft.com/office/drawing/2014/main" val="2270197206"/>
                    </a:ext>
                  </a:extLst>
                </a:gridCol>
                <a:gridCol w="609600">
                  <a:extLst>
                    <a:ext uri="{9D8B030D-6E8A-4147-A177-3AD203B41FA5}">
                      <a16:colId xmlns:a16="http://schemas.microsoft.com/office/drawing/2014/main" val="2951581292"/>
                    </a:ext>
                  </a:extLst>
                </a:gridCol>
                <a:gridCol w="1752600">
                  <a:extLst>
                    <a:ext uri="{9D8B030D-6E8A-4147-A177-3AD203B41FA5}">
                      <a16:colId xmlns:a16="http://schemas.microsoft.com/office/drawing/2014/main" val="561052809"/>
                    </a:ext>
                  </a:extLst>
                </a:gridCol>
                <a:gridCol w="2819400">
                  <a:extLst>
                    <a:ext uri="{9D8B030D-6E8A-4147-A177-3AD203B41FA5}">
                      <a16:colId xmlns:a16="http://schemas.microsoft.com/office/drawing/2014/main" val="3531675469"/>
                    </a:ext>
                  </a:extLst>
                </a:gridCol>
              </a:tblGrid>
              <a:tr h="370840">
                <a:tc>
                  <a:txBody>
                    <a:bodyPr/>
                    <a:lstStyle/>
                    <a:p>
                      <a:r>
                        <a:rPr lang="en-IN" dirty="0" err="1"/>
                        <a:t>S.No</a:t>
                      </a:r>
                      <a:r>
                        <a:rPr lang="en-IN" dirty="0"/>
                        <a:t>.</a:t>
                      </a:r>
                    </a:p>
                  </a:txBody>
                  <a:tcPr/>
                </a:tc>
                <a:tc>
                  <a:txBody>
                    <a:bodyPr/>
                    <a:lstStyle/>
                    <a:p>
                      <a:r>
                        <a:rPr lang="en-IN" dirty="0"/>
                        <a:t>Title of the Paper</a:t>
                      </a:r>
                    </a:p>
                  </a:txBody>
                  <a:tcPr/>
                </a:tc>
                <a:tc>
                  <a:txBody>
                    <a:bodyPr/>
                    <a:lstStyle/>
                    <a:p>
                      <a:r>
                        <a:rPr lang="en-IN" dirty="0"/>
                        <a:t>Year</a:t>
                      </a:r>
                    </a:p>
                  </a:txBody>
                  <a:tcPr/>
                </a:tc>
                <a:tc>
                  <a:txBody>
                    <a:bodyPr/>
                    <a:lstStyle/>
                    <a:p>
                      <a:r>
                        <a:rPr lang="en-IN" dirty="0"/>
                        <a:t>Journal/Conference Name</a:t>
                      </a:r>
                    </a:p>
                  </a:txBody>
                  <a:tcPr/>
                </a:tc>
                <a:tc>
                  <a:txBody>
                    <a:bodyPr/>
                    <a:lstStyle/>
                    <a:p>
                      <a:r>
                        <a:rPr lang="en-IN" dirty="0"/>
                        <a:t>Inferences</a:t>
                      </a:r>
                    </a:p>
                  </a:txBody>
                  <a:tcPr/>
                </a:tc>
                <a:extLst>
                  <a:ext uri="{0D108BD9-81ED-4DB2-BD59-A6C34878D82A}">
                    <a16:rowId xmlns:a16="http://schemas.microsoft.com/office/drawing/2014/main" val="2280627976"/>
                  </a:ext>
                </a:extLst>
              </a:tr>
              <a:tr h="370840">
                <a:tc>
                  <a:txBody>
                    <a:bodyPr/>
                    <a:lstStyle/>
                    <a:p>
                      <a:r>
                        <a:rPr lang="en-IN" sz="1600" dirty="0">
                          <a:latin typeface="Times New Roman" panose="02020603050405020304" pitchFamily="18" charset="0"/>
                          <a:cs typeface="Times New Roman" panose="02020603050405020304" pitchFamily="18" charset="0"/>
                        </a:rPr>
                        <a:t>   4</a:t>
                      </a:r>
                    </a:p>
                  </a:txBody>
                  <a:tcPr/>
                </a:tc>
                <a:tc>
                  <a:txBody>
                    <a:bodyPr/>
                    <a:lstStyle/>
                    <a:p>
                      <a:r>
                        <a:rPr lang="en-US" sz="1600" dirty="0"/>
                        <a:t>Tools and Techniques for Malware Detection and Analysis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020</a:t>
                      </a:r>
                    </a:p>
                  </a:txBody>
                  <a:tcPr/>
                </a:tc>
                <a:tc>
                  <a:txBody>
                    <a:bodyPr/>
                    <a:lstStyle/>
                    <a:p>
                      <a:r>
                        <a:rPr lang="en-IN" sz="1600" dirty="0" err="1"/>
                        <a:t>arXiv</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t>Discusses malware detection approaches, including static, dynamic, and hybrid methods. Highlights ML in malware identification.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8672782"/>
                  </a:ext>
                </a:extLst>
              </a:tr>
              <a:tr h="0">
                <a:tc>
                  <a:txBody>
                    <a:bodyPr/>
                    <a:lstStyle/>
                    <a:p>
                      <a:r>
                        <a:rPr lang="en-IN" sz="1600" dirty="0">
                          <a:latin typeface="Times New Roman" panose="02020603050405020304" pitchFamily="18" charset="0"/>
                          <a:cs typeface="Times New Roman" panose="02020603050405020304" pitchFamily="18" charset="0"/>
                        </a:rPr>
                        <a:t>   5</a:t>
                      </a:r>
                    </a:p>
                  </a:txBody>
                  <a:tcPr/>
                </a:tc>
                <a:tc>
                  <a:txBody>
                    <a:bodyPr/>
                    <a:lstStyle/>
                    <a:p>
                      <a:r>
                        <a:rPr lang="en-US" sz="1600" dirty="0">
                          <a:latin typeface="Times New Roman" panose="02020603050405020304" pitchFamily="18" charset="0"/>
                          <a:cs typeface="Times New Roman" panose="02020603050405020304" pitchFamily="18" charset="0"/>
                        </a:rPr>
                        <a:t>Whale Optimization Algorithm-Based Email Spam Feature Selection Method Using Rotation Forest Algorithm</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019</a:t>
                      </a:r>
                    </a:p>
                  </a:txBody>
                  <a:tcPr/>
                </a:tc>
                <a:tc>
                  <a:txBody>
                    <a:bodyPr/>
                    <a:lstStyle/>
                    <a:p>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SN Applied Sciences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Though focused on email spam, this introduces optimization and feature selection techniques that could enhance the efficiency of your malware detection algorithms.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2395555"/>
                  </a:ext>
                </a:extLst>
              </a:tr>
              <a:tr h="370840">
                <a:tc>
                  <a:txBody>
                    <a:bodyPr/>
                    <a:lstStyle/>
                    <a:p>
                      <a:r>
                        <a:rPr lang="en-IN" sz="1600" dirty="0">
                          <a:latin typeface="Times New Roman" panose="02020603050405020304" pitchFamily="18" charset="0"/>
                          <a:cs typeface="Times New Roman" panose="02020603050405020304" pitchFamily="18" charset="0"/>
                        </a:rPr>
                        <a:t>   6</a:t>
                      </a:r>
                    </a:p>
                  </a:txBody>
                  <a:tcPr/>
                </a:tc>
                <a:tc>
                  <a:txBody>
                    <a:bodyPr/>
                    <a:lstStyle/>
                    <a:p>
                      <a:r>
                        <a:rPr lang="en-US" sz="1600" dirty="0">
                          <a:latin typeface="Times New Roman" panose="02020603050405020304" pitchFamily="18" charset="0"/>
                          <a:cs typeface="Times New Roman" panose="02020603050405020304" pitchFamily="18" charset="0"/>
                        </a:rPr>
                        <a:t>Advance Malware Analysis Using Static and Dynamic </a:t>
                      </a:r>
                      <a:r>
                        <a:rPr lang="en-US" sz="1600" dirty="0" err="1">
                          <a:latin typeface="Times New Roman" panose="02020603050405020304" pitchFamily="18" charset="0"/>
                          <a:cs typeface="Times New Roman" panose="02020603050405020304" pitchFamily="18" charset="0"/>
                        </a:rPr>
                        <a:t>Methodolog</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018</a:t>
                      </a:r>
                    </a:p>
                  </a:txBody>
                  <a:tcPr/>
                </a:tc>
                <a:tc>
                  <a:txBody>
                    <a:bodyPr/>
                    <a:lstStyle/>
                    <a:p>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International Conference on Advanced Computation and Telecommunication (ICACAT)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Helps to refine your hybrid approach for analyzing both static properties and runtime behavior.</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14607786"/>
                  </a:ext>
                </a:extLst>
              </a:tr>
            </a:tbl>
          </a:graphicData>
        </a:graphic>
      </p:graphicFrame>
      <p:sp>
        <p:nvSpPr>
          <p:cNvPr id="4" name="Footer Placeholder 3">
            <a:extLst>
              <a:ext uri="{FF2B5EF4-FFF2-40B4-BE49-F238E27FC236}">
                <a16:creationId xmlns:a16="http://schemas.microsoft.com/office/drawing/2014/main" id="{36872D9D-7E1A-0E47-3B62-BFFFDA6FA618}"/>
              </a:ext>
            </a:extLst>
          </p:cNvPr>
          <p:cNvSpPr>
            <a:spLocks noGrp="1"/>
          </p:cNvSpPr>
          <p:nvPr>
            <p:ph type="ftr" sz="quarter" idx="11"/>
          </p:nvPr>
        </p:nvSpPr>
        <p:spPr>
          <a:xfrm>
            <a:off x="1983658" y="6400799"/>
            <a:ext cx="7162800" cy="365125"/>
          </a:xfrm>
        </p:spPr>
        <p:txBody>
          <a:bodyPr/>
          <a:lstStyle/>
          <a:p>
            <a:r>
              <a:rPr lang="en-US" dirty="0"/>
              <a:t>DEPARTMENT OF COMPUTER SCIENCE AND ENGINEERING SPECIALIZATION IN CYBER SECURITY      SLIDE NO:7</a:t>
            </a:r>
          </a:p>
        </p:txBody>
      </p:sp>
      <p:pic>
        <p:nvPicPr>
          <p:cNvPr id="3" name="image1.png">
            <a:extLst>
              <a:ext uri="{FF2B5EF4-FFF2-40B4-BE49-F238E27FC236}">
                <a16:creationId xmlns:a16="http://schemas.microsoft.com/office/drawing/2014/main" id="{D29F6528-6602-218F-88F7-76498D813626}"/>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57200" y="214632"/>
            <a:ext cx="1447800" cy="914400"/>
          </a:xfrm>
          <a:prstGeom prst="rect">
            <a:avLst/>
          </a:prstGeom>
          <a:ln/>
        </p:spPr>
      </p:pic>
      <p:sp>
        <p:nvSpPr>
          <p:cNvPr id="6" name="TextBox 5">
            <a:extLst>
              <a:ext uri="{FF2B5EF4-FFF2-40B4-BE49-F238E27FC236}">
                <a16:creationId xmlns:a16="http://schemas.microsoft.com/office/drawing/2014/main" id="{1187FF79-67BF-17A4-2A54-D8C8D78623B1}"/>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4187860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F09FC-FA80-70F0-ADA3-522AF3A2B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89C83-E533-8E2C-59BA-CEE56EEB124A}"/>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4F9F06B2-AF98-530A-3007-7DBDD17A9A1D}"/>
              </a:ext>
            </a:extLst>
          </p:cNvPr>
          <p:cNvSpPr>
            <a:spLocks noGrp="1"/>
          </p:cNvSpPr>
          <p:nvPr>
            <p:ph idx="1"/>
          </p:nvPr>
        </p:nvSpPr>
        <p:spPr>
          <a:xfrm>
            <a:off x="457200" y="1295400"/>
            <a:ext cx="8229600" cy="4525963"/>
          </a:xfrm>
        </p:spPr>
        <p:txBody>
          <a:bodyPr>
            <a:noAutofit/>
          </a:bodyPr>
          <a:lstStyle/>
          <a:p>
            <a:pPr algn="just"/>
            <a:r>
              <a:rPr lang="en-US" sz="2200" dirty="0">
                <a:latin typeface="Times New Roman" panose="02020603050405020304" pitchFamily="18" charset="0"/>
                <a:cs typeface="Times New Roman" panose="02020603050405020304" pitchFamily="18" charset="0"/>
              </a:rPr>
              <a:t>The increasing sophistication of malware requires </a:t>
            </a:r>
            <a:r>
              <a:rPr lang="en-US" sz="2200" b="1" dirty="0">
                <a:latin typeface="Times New Roman" panose="02020603050405020304" pitchFamily="18" charset="0"/>
                <a:cs typeface="Times New Roman" panose="02020603050405020304" pitchFamily="18" charset="0"/>
              </a:rPr>
              <a:t>fast, accurate, and offline-compatible</a:t>
            </a:r>
            <a:r>
              <a:rPr lang="en-US" sz="2200" dirty="0">
                <a:latin typeface="Times New Roman" panose="02020603050405020304" pitchFamily="18" charset="0"/>
                <a:cs typeface="Times New Roman" panose="02020603050405020304" pitchFamily="18" charset="0"/>
              </a:rPr>
              <a:t> analysis tools.</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Traditional malware detection tools either rely on </a:t>
            </a:r>
            <a:r>
              <a:rPr lang="en-US" sz="2200" b="1" dirty="0">
                <a:latin typeface="Times New Roman" panose="02020603050405020304" pitchFamily="18" charset="0"/>
                <a:cs typeface="Times New Roman" panose="02020603050405020304" pitchFamily="18" charset="0"/>
              </a:rPr>
              <a:t>signature-based detection</a:t>
            </a:r>
            <a:r>
              <a:rPr lang="en-US" sz="2200" dirty="0">
                <a:latin typeface="Times New Roman" panose="02020603050405020304" pitchFamily="18" charset="0"/>
                <a:cs typeface="Times New Roman" panose="02020603050405020304" pitchFamily="18" charset="0"/>
              </a:rPr>
              <a:t>, which fails against </a:t>
            </a:r>
            <a:r>
              <a:rPr lang="en-US" sz="2200" b="1" dirty="0">
                <a:latin typeface="Times New Roman" panose="02020603050405020304" pitchFamily="18" charset="0"/>
                <a:cs typeface="Times New Roman" panose="02020603050405020304" pitchFamily="18" charset="0"/>
              </a:rPr>
              <a:t>zero-day threats</a:t>
            </a:r>
            <a:r>
              <a:rPr lang="en-US" sz="2200" dirty="0">
                <a:latin typeface="Times New Roman" panose="02020603050405020304" pitchFamily="18" charset="0"/>
                <a:cs typeface="Times New Roman" panose="02020603050405020304" pitchFamily="18" charset="0"/>
              </a:rPr>
              <a:t>, or </a:t>
            </a:r>
            <a:r>
              <a:rPr lang="en-US" sz="2200" b="1" dirty="0">
                <a:latin typeface="Times New Roman" panose="02020603050405020304" pitchFamily="18" charset="0"/>
                <a:cs typeface="Times New Roman" panose="02020603050405020304" pitchFamily="18" charset="0"/>
              </a:rPr>
              <a:t>behavioral analysis</a:t>
            </a:r>
            <a:r>
              <a:rPr lang="en-US" sz="2200" dirty="0">
                <a:latin typeface="Times New Roman" panose="02020603050405020304" pitchFamily="18" charset="0"/>
                <a:cs typeface="Times New Roman" panose="02020603050405020304" pitchFamily="18" charset="0"/>
              </a:rPr>
              <a:t>, which requires an active execution environment.</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Existing tools often require </a:t>
            </a:r>
            <a:r>
              <a:rPr lang="en-US" sz="2200" b="1" dirty="0">
                <a:latin typeface="Times New Roman" panose="02020603050405020304" pitchFamily="18" charset="0"/>
                <a:cs typeface="Times New Roman" panose="02020603050405020304" pitchFamily="18" charset="0"/>
              </a:rPr>
              <a:t>internet access</a:t>
            </a:r>
            <a:r>
              <a:rPr lang="en-US" sz="2200" dirty="0">
                <a:latin typeface="Times New Roman" panose="02020603050405020304" pitchFamily="18" charset="0"/>
                <a:cs typeface="Times New Roman" panose="02020603050405020304" pitchFamily="18" charset="0"/>
              </a:rPr>
              <a:t>, making them </a:t>
            </a:r>
            <a:r>
              <a:rPr lang="en-US" sz="2200" b="1" dirty="0">
                <a:latin typeface="Times New Roman" panose="02020603050405020304" pitchFamily="18" charset="0"/>
                <a:cs typeface="Times New Roman" panose="02020603050405020304" pitchFamily="18" charset="0"/>
              </a:rPr>
              <a:t>unsuitable for air-gapped systems</a:t>
            </a:r>
            <a:r>
              <a:rPr lang="en-US" sz="2200" dirty="0">
                <a:latin typeface="Times New Roman" panose="02020603050405020304" pitchFamily="18" charset="0"/>
                <a:cs typeface="Times New Roman" panose="02020603050405020304" pitchFamily="18" charset="0"/>
              </a:rPr>
              <a:t> used in highly secure environments.</a:t>
            </a:r>
          </a:p>
          <a:p>
            <a:pPr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Complex setup and usability issues</a:t>
            </a:r>
            <a:r>
              <a:rPr lang="en-US" sz="2200" dirty="0">
                <a:latin typeface="Times New Roman" panose="02020603050405020304" pitchFamily="18" charset="0"/>
                <a:cs typeface="Times New Roman" panose="02020603050405020304" pitchFamily="18" charset="0"/>
              </a:rPr>
              <a:t> make many tools inaccessible to beginners and non-technical users.</a:t>
            </a:r>
          </a:p>
          <a:p>
            <a:pPr algn="just"/>
            <a:r>
              <a:rPr lang="en-US" sz="2200" b="1" dirty="0">
                <a:latin typeface="Times New Roman" panose="02020603050405020304" pitchFamily="18" charset="0"/>
                <a:cs typeface="Times New Roman" panose="02020603050405020304" pitchFamily="18" charset="0"/>
              </a:rPr>
              <a:t>Payload Decoder</a:t>
            </a:r>
            <a:r>
              <a:rPr lang="en-US" sz="2200" dirty="0">
                <a:latin typeface="Times New Roman" panose="02020603050405020304" pitchFamily="18" charset="0"/>
                <a:cs typeface="Times New Roman" panose="02020603050405020304" pitchFamily="18" charset="0"/>
              </a:rPr>
              <a:t> aims to overcome these challenges by providing an </a:t>
            </a:r>
            <a:r>
              <a:rPr lang="en-US" sz="2200" b="1" dirty="0">
                <a:latin typeface="Times New Roman" panose="02020603050405020304" pitchFamily="18" charset="0"/>
                <a:cs typeface="Times New Roman" panose="02020603050405020304" pitchFamily="18" charset="0"/>
              </a:rPr>
              <a:t>efficient, user-friendly, and offline-capable</a:t>
            </a:r>
            <a:r>
              <a:rPr lang="en-US" sz="2200" dirty="0">
                <a:latin typeface="Times New Roman" panose="02020603050405020304" pitchFamily="18" charset="0"/>
                <a:cs typeface="Times New Roman" panose="02020603050405020304" pitchFamily="18" charset="0"/>
              </a:rPr>
              <a:t> malware analysis tool.</a:t>
            </a:r>
          </a:p>
          <a:p>
            <a:pPr marL="0" indent="0" algn="just">
              <a:buNone/>
            </a:pPr>
            <a:endParaRPr lang="en-IN" sz="2200" dirty="0">
              <a:latin typeface="Times New Roman" panose="02020603050405020304" pitchFamily="18" charset="0"/>
              <a:cs typeface="Times New Roman" panose="02020603050405020304" pitchFamily="18" charset="0"/>
            </a:endParaRPr>
          </a:p>
          <a:p>
            <a:pPr marL="0" lvl="0" indent="0" algn="just" rtl="0">
              <a:lnSpc>
                <a:spcPct val="115000"/>
              </a:lnSpc>
              <a:spcBef>
                <a:spcPts val="1200"/>
              </a:spcBef>
              <a:spcAft>
                <a:spcPts val="0"/>
              </a:spcAft>
              <a:buClr>
                <a:schemeClr val="dk1"/>
              </a:buClr>
              <a:buSzPts val="1100"/>
              <a:buFont typeface="Arial"/>
              <a:buNone/>
            </a:pPr>
            <a:endParaRPr lang="en-US" sz="2200" dirty="0">
              <a:latin typeface="Times New Roman"/>
              <a:ea typeface="Times New Roman"/>
              <a:cs typeface="Times New Roman"/>
              <a:sym typeface="Times New Roman"/>
            </a:endParaRPr>
          </a:p>
        </p:txBody>
      </p:sp>
      <p:sp>
        <p:nvSpPr>
          <p:cNvPr id="5" name="Footer Placeholder 3">
            <a:extLst>
              <a:ext uri="{FF2B5EF4-FFF2-40B4-BE49-F238E27FC236}">
                <a16:creationId xmlns:a16="http://schemas.microsoft.com/office/drawing/2014/main" id="{1768DA03-B9C0-4249-3C8C-A821825A7C76}"/>
              </a:ext>
            </a:extLst>
          </p:cNvPr>
          <p:cNvSpPr>
            <a:spLocks noGrp="1"/>
          </p:cNvSpPr>
          <p:nvPr>
            <p:ph type="ftr" sz="quarter" idx="11"/>
          </p:nvPr>
        </p:nvSpPr>
        <p:spPr>
          <a:xfrm>
            <a:off x="1828800" y="6370637"/>
            <a:ext cx="7162800" cy="425450"/>
          </a:xfrm>
        </p:spPr>
        <p:txBody>
          <a:bodyPr/>
          <a:lstStyle/>
          <a:p>
            <a:r>
              <a:rPr lang="en-US" dirty="0"/>
              <a:t>DEPARTMENT OF COMPUTER SCIENCE AND ENGINEERING SPECIALIZATION IN CYBER SECURITY      SLIDE NO: 10</a:t>
            </a:r>
          </a:p>
        </p:txBody>
      </p:sp>
      <p:pic>
        <p:nvPicPr>
          <p:cNvPr id="4" name="image1.png">
            <a:extLst>
              <a:ext uri="{FF2B5EF4-FFF2-40B4-BE49-F238E27FC236}">
                <a16:creationId xmlns:a16="http://schemas.microsoft.com/office/drawing/2014/main" id="{72C31702-8535-69C9-D4F0-535EC097530A}"/>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57200" y="160498"/>
            <a:ext cx="1447800" cy="914400"/>
          </a:xfrm>
          <a:prstGeom prst="rect">
            <a:avLst/>
          </a:prstGeom>
          <a:ln/>
        </p:spPr>
      </p:pic>
      <p:sp>
        <p:nvSpPr>
          <p:cNvPr id="6" name="TextBox 5">
            <a:extLst>
              <a:ext uri="{FF2B5EF4-FFF2-40B4-BE49-F238E27FC236}">
                <a16:creationId xmlns:a16="http://schemas.microsoft.com/office/drawing/2014/main" id="{9C7305B7-C71B-F3CA-6EF0-BA4C6CF06783}"/>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172806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Objectives</a:t>
            </a:r>
          </a:p>
        </p:txBody>
      </p:sp>
      <p:sp>
        <p:nvSpPr>
          <p:cNvPr id="3" name="Content Placeholder 2"/>
          <p:cNvSpPr>
            <a:spLocks noGrp="1"/>
          </p:cNvSpPr>
          <p:nvPr>
            <p:ph idx="1"/>
          </p:nvPr>
        </p:nvSpPr>
        <p:spPr>
          <a:xfrm>
            <a:off x="609600" y="990600"/>
            <a:ext cx="8229600" cy="5029200"/>
          </a:xfrm>
        </p:spPr>
        <p:txBody>
          <a:bodyPr>
            <a:noAutofit/>
          </a:bodyPr>
          <a:lstStyle/>
          <a:p>
            <a:pPr marL="0" lvl="0" indent="0" algn="just" rtl="0">
              <a:lnSpc>
                <a:spcPct val="115000"/>
              </a:lnSpc>
              <a:spcBef>
                <a:spcPts val="1200"/>
              </a:spcBef>
              <a:spcAft>
                <a:spcPts val="0"/>
              </a:spcAft>
              <a:buNone/>
            </a:pPr>
            <a:r>
              <a:rPr lang="en-US" sz="1800" b="1" dirty="0">
                <a:latin typeface="Times New Roman"/>
                <a:ea typeface="Times New Roman"/>
                <a:cs typeface="Times New Roman"/>
                <a:sym typeface="Times New Roman"/>
              </a:rPr>
              <a:t>To automate static analysis and metadata extraction processes</a:t>
            </a:r>
            <a:r>
              <a:rPr lang="en-US" sz="1800" dirty="0">
                <a:latin typeface="Times New Roman"/>
                <a:ea typeface="Times New Roman"/>
                <a:cs typeface="Times New Roman"/>
                <a:sym typeface="Times New Roman"/>
              </a:rPr>
              <a:t>:</a:t>
            </a:r>
          </a:p>
          <a:p>
            <a:pPr marL="457200" lvl="0" indent="-311150" algn="just" rtl="0">
              <a:lnSpc>
                <a:spcPct val="115000"/>
              </a:lnSpc>
              <a:spcBef>
                <a:spcPts val="1200"/>
              </a:spcBef>
              <a:spcAft>
                <a:spcPts val="0"/>
              </a:spcAft>
              <a:buSzPts val="1300"/>
              <a:buFont typeface="Times New Roman"/>
              <a:buChar char="●"/>
            </a:pPr>
            <a:r>
              <a:rPr lang="en-US" sz="1800" dirty="0">
                <a:latin typeface="Times New Roman"/>
                <a:ea typeface="Times New Roman"/>
                <a:cs typeface="Times New Roman"/>
                <a:sym typeface="Times New Roman"/>
              </a:rPr>
              <a:t>It will streamline the extraction of file properties such as type, size, creation date, and hashes, eliminating the need for manual inspection.</a:t>
            </a:r>
          </a:p>
          <a:p>
            <a:pPr marL="0" lvl="0" indent="0" algn="just" rtl="0">
              <a:lnSpc>
                <a:spcPct val="115000"/>
              </a:lnSpc>
              <a:spcBef>
                <a:spcPts val="1200"/>
              </a:spcBef>
              <a:spcAft>
                <a:spcPts val="0"/>
              </a:spcAft>
              <a:buNone/>
            </a:pPr>
            <a:r>
              <a:rPr lang="en-US" sz="1800" b="1" dirty="0">
                <a:latin typeface="Times New Roman"/>
                <a:ea typeface="Times New Roman"/>
                <a:cs typeface="Times New Roman"/>
                <a:sym typeface="Times New Roman"/>
              </a:rPr>
              <a:t>To provide offline analysis capabilities for secure environments</a:t>
            </a:r>
            <a:r>
              <a:rPr lang="en-US" sz="1800" dirty="0">
                <a:latin typeface="Times New Roman"/>
                <a:ea typeface="Times New Roman"/>
                <a:cs typeface="Times New Roman"/>
                <a:sym typeface="Times New Roman"/>
              </a:rPr>
              <a:t>:</a:t>
            </a:r>
          </a:p>
          <a:p>
            <a:pPr marL="457200" lvl="0" indent="-311150" algn="just" rtl="0">
              <a:lnSpc>
                <a:spcPct val="115000"/>
              </a:lnSpc>
              <a:spcBef>
                <a:spcPts val="1200"/>
              </a:spcBef>
              <a:spcAft>
                <a:spcPts val="0"/>
              </a:spcAft>
              <a:buSzPts val="1300"/>
              <a:buFont typeface="Times New Roman"/>
              <a:buChar char="●"/>
            </a:pPr>
            <a:r>
              <a:rPr lang="en-US" sz="1800" dirty="0">
                <a:latin typeface="Times New Roman"/>
                <a:ea typeface="Times New Roman"/>
                <a:cs typeface="Times New Roman"/>
                <a:sym typeface="Times New Roman"/>
              </a:rPr>
              <a:t>The tool will function without requiring an internet connection, making it suitable for air-gapped systems or environments with strict security policies.</a:t>
            </a:r>
          </a:p>
          <a:p>
            <a:pPr marL="0" lvl="0" indent="0" algn="just" rtl="0">
              <a:lnSpc>
                <a:spcPct val="115000"/>
              </a:lnSpc>
              <a:spcBef>
                <a:spcPts val="1200"/>
              </a:spcBef>
              <a:spcAft>
                <a:spcPts val="0"/>
              </a:spcAft>
              <a:buNone/>
            </a:pPr>
            <a:r>
              <a:rPr lang="en-US" sz="1800" b="1" dirty="0">
                <a:latin typeface="Times New Roman"/>
                <a:ea typeface="Times New Roman"/>
                <a:cs typeface="Times New Roman"/>
                <a:sym typeface="Times New Roman"/>
              </a:rPr>
              <a:t>To facilitate learning and training in malware analysis</a:t>
            </a:r>
            <a:r>
              <a:rPr lang="en-US" sz="1800" dirty="0">
                <a:latin typeface="Times New Roman"/>
                <a:ea typeface="Times New Roman"/>
                <a:cs typeface="Times New Roman"/>
                <a:sym typeface="Times New Roman"/>
              </a:rPr>
              <a:t>:</a:t>
            </a:r>
          </a:p>
          <a:p>
            <a:pPr marL="457200" lvl="0" indent="-311150" algn="just" rtl="0">
              <a:lnSpc>
                <a:spcPct val="115000"/>
              </a:lnSpc>
              <a:spcBef>
                <a:spcPts val="1200"/>
              </a:spcBef>
              <a:spcAft>
                <a:spcPts val="0"/>
              </a:spcAft>
              <a:buSzPts val="1300"/>
              <a:buFont typeface="Times New Roman"/>
              <a:buChar char="●"/>
            </a:pPr>
            <a:r>
              <a:rPr lang="en-US" sz="1800" dirty="0">
                <a:latin typeface="Times New Roman"/>
                <a:ea typeface="Times New Roman"/>
                <a:cs typeface="Times New Roman"/>
                <a:sym typeface="Times New Roman"/>
              </a:rPr>
              <a:t>By offering an intuitive GUI and clear reports, the tool can serve as an educational resource for students and professionals to understand malware characteristics and analysis methods.</a:t>
            </a:r>
          </a:p>
          <a:p>
            <a:pPr marL="0" lvl="0" indent="0" algn="just" rtl="0">
              <a:lnSpc>
                <a:spcPct val="115000"/>
              </a:lnSpc>
              <a:spcBef>
                <a:spcPts val="1200"/>
              </a:spcBef>
              <a:spcAft>
                <a:spcPts val="0"/>
              </a:spcAft>
              <a:buNone/>
            </a:pPr>
            <a:r>
              <a:rPr lang="en-US" sz="1800" b="1" dirty="0">
                <a:latin typeface="Times New Roman"/>
                <a:ea typeface="Times New Roman"/>
                <a:cs typeface="Times New Roman"/>
                <a:sym typeface="Times New Roman"/>
              </a:rPr>
              <a:t>To build a modular architecture allowing future integrations</a:t>
            </a:r>
            <a:r>
              <a:rPr lang="en-US" sz="1800" dirty="0">
                <a:latin typeface="Times New Roman"/>
                <a:ea typeface="Times New Roman"/>
                <a:cs typeface="Times New Roman"/>
                <a:sym typeface="Times New Roman"/>
              </a:rPr>
              <a:t>:</a:t>
            </a:r>
          </a:p>
          <a:p>
            <a:pPr marL="457200" lvl="0" indent="-311150" algn="just" rtl="0">
              <a:lnSpc>
                <a:spcPct val="115000"/>
              </a:lnSpc>
              <a:spcBef>
                <a:spcPts val="1200"/>
              </a:spcBef>
              <a:spcAft>
                <a:spcPts val="0"/>
              </a:spcAft>
              <a:buSzPts val="1300"/>
              <a:buFont typeface="Times New Roman"/>
              <a:buChar char="●"/>
            </a:pPr>
            <a:r>
              <a:rPr lang="en-US" sz="1800" dirty="0">
                <a:latin typeface="Times New Roman"/>
                <a:ea typeface="Times New Roman"/>
                <a:cs typeface="Times New Roman"/>
                <a:sym typeface="Times New Roman"/>
              </a:rPr>
              <a:t>The system will be designed to support adding new modules, such as AI-based malware classification, without requiring major codebase changes.</a:t>
            </a:r>
          </a:p>
          <a:p>
            <a:pPr algn="just"/>
            <a:endParaRPr lang="en-US" sz="1800" dirty="0">
              <a:latin typeface="Times New Roman" pitchFamily="18" charset="0"/>
              <a:cs typeface="Times New Roman" pitchFamily="18" charset="0"/>
            </a:endParaRPr>
          </a:p>
        </p:txBody>
      </p:sp>
      <p:sp>
        <p:nvSpPr>
          <p:cNvPr id="5" name="Footer Placeholder 3">
            <a:extLst>
              <a:ext uri="{FF2B5EF4-FFF2-40B4-BE49-F238E27FC236}">
                <a16:creationId xmlns:a16="http://schemas.microsoft.com/office/drawing/2014/main" id="{461BE814-BBE0-6E59-58BC-034E5BFAA056}"/>
              </a:ext>
            </a:extLst>
          </p:cNvPr>
          <p:cNvSpPr>
            <a:spLocks noGrp="1"/>
          </p:cNvSpPr>
          <p:nvPr>
            <p:ph type="ftr" sz="quarter" idx="11"/>
          </p:nvPr>
        </p:nvSpPr>
        <p:spPr>
          <a:xfrm>
            <a:off x="1917391" y="6370637"/>
            <a:ext cx="7010400" cy="425450"/>
          </a:xfrm>
        </p:spPr>
        <p:txBody>
          <a:bodyPr/>
          <a:lstStyle/>
          <a:p>
            <a:r>
              <a:rPr lang="en-US" dirty="0"/>
              <a:t>DEPARTMENT OF COMPUTER SCIENCE AND ENGINEERING SPECIALIZATION IN CYBER SECURITY     SLIDE NO: 8</a:t>
            </a:r>
          </a:p>
        </p:txBody>
      </p:sp>
      <p:pic>
        <p:nvPicPr>
          <p:cNvPr id="4" name="image1.png">
            <a:extLst>
              <a:ext uri="{FF2B5EF4-FFF2-40B4-BE49-F238E27FC236}">
                <a16:creationId xmlns:a16="http://schemas.microsoft.com/office/drawing/2014/main" id="{27EC922E-D44B-605B-0B88-A865C74D1FC2}"/>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40094" y="76200"/>
            <a:ext cx="1447800" cy="914400"/>
          </a:xfrm>
          <a:prstGeom prst="rect">
            <a:avLst/>
          </a:prstGeom>
          <a:ln/>
        </p:spPr>
      </p:pic>
      <p:sp>
        <p:nvSpPr>
          <p:cNvPr id="6" name="TextBox 5">
            <a:extLst>
              <a:ext uri="{FF2B5EF4-FFF2-40B4-BE49-F238E27FC236}">
                <a16:creationId xmlns:a16="http://schemas.microsoft.com/office/drawing/2014/main" id="{E440B751-54DD-CB41-7872-E3AB3F7AD2D3}"/>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2638758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C633-3A56-9D1B-9BE6-6DCCF1DBB674}"/>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DF83693C-A22F-A053-BB95-398197301E1B}"/>
              </a:ext>
            </a:extLst>
          </p:cNvPr>
          <p:cNvSpPr>
            <a:spLocks noGrp="1"/>
          </p:cNvSpPr>
          <p:nvPr>
            <p:ph idx="1"/>
          </p:nvPr>
        </p:nvSpPr>
        <p:spPr>
          <a:xfrm>
            <a:off x="457200" y="1295400"/>
            <a:ext cx="8229600" cy="4525963"/>
          </a:xfrm>
        </p:spPr>
        <p:txBody>
          <a:bodyPr>
            <a:noAutofit/>
          </a:bodyPr>
          <a:lstStyle/>
          <a:p>
            <a:pPr marL="0" lvl="0" indent="0" algn="just" rtl="0">
              <a:lnSpc>
                <a:spcPct val="115000"/>
              </a:lnSpc>
              <a:spcBef>
                <a:spcPts val="1200"/>
              </a:spcBef>
              <a:spcAft>
                <a:spcPts val="0"/>
              </a:spcAft>
              <a:buClr>
                <a:schemeClr val="dk1"/>
              </a:buClr>
              <a:buSzPts val="1100"/>
              <a:buFont typeface="Arial"/>
              <a:buNone/>
            </a:pPr>
            <a:r>
              <a:rPr lang="en-US" sz="1600" b="1" dirty="0">
                <a:latin typeface="Times New Roman"/>
                <a:ea typeface="Times New Roman"/>
                <a:cs typeface="Times New Roman"/>
                <a:sym typeface="Times New Roman"/>
              </a:rPr>
              <a:t>To Develop a tool to automate malware detection and file analysis</a:t>
            </a:r>
            <a:r>
              <a:rPr lang="en-US" sz="1600" dirty="0">
                <a:latin typeface="Times New Roman"/>
                <a:ea typeface="Times New Roman"/>
                <a:cs typeface="Times New Roman"/>
                <a:sym typeface="Times New Roman"/>
              </a:rPr>
              <a:t>:</a:t>
            </a:r>
          </a:p>
          <a:p>
            <a:pPr marL="457200" lvl="0" indent="-323850" algn="just" rtl="0">
              <a:lnSpc>
                <a:spcPct val="115000"/>
              </a:lnSpc>
              <a:spcBef>
                <a:spcPts val="1200"/>
              </a:spcBef>
              <a:spcAft>
                <a:spcPts val="0"/>
              </a:spcAft>
              <a:buSzPts val="1500"/>
              <a:buFont typeface="Times New Roman"/>
              <a:buChar char="●"/>
            </a:pPr>
            <a:r>
              <a:rPr lang="en-US" sz="1600" dirty="0">
                <a:latin typeface="Times New Roman"/>
                <a:ea typeface="Times New Roman"/>
                <a:cs typeface="Times New Roman"/>
                <a:sym typeface="Times New Roman"/>
              </a:rPr>
              <a:t>The core functionality will include scanning files for known malicious signatures, extracting IOCs, and providing quick feedback on file safety.</a:t>
            </a:r>
          </a:p>
          <a:p>
            <a:pPr marL="0" lvl="0" indent="0" algn="just" rtl="0">
              <a:lnSpc>
                <a:spcPct val="115000"/>
              </a:lnSpc>
              <a:spcBef>
                <a:spcPts val="1200"/>
              </a:spcBef>
              <a:spcAft>
                <a:spcPts val="0"/>
              </a:spcAft>
              <a:buClr>
                <a:schemeClr val="dk1"/>
              </a:buClr>
              <a:buSzPts val="1100"/>
              <a:buFont typeface="Arial"/>
              <a:buNone/>
            </a:pPr>
            <a:r>
              <a:rPr lang="en-US" sz="1600" b="1" dirty="0">
                <a:latin typeface="Times New Roman"/>
                <a:ea typeface="Times New Roman"/>
                <a:cs typeface="Times New Roman"/>
                <a:sym typeface="Times New Roman"/>
              </a:rPr>
              <a:t>To Provide offline functionality with cross-platform compatibility</a:t>
            </a:r>
            <a:r>
              <a:rPr lang="en-US" sz="1600" dirty="0">
                <a:latin typeface="Times New Roman"/>
                <a:ea typeface="Times New Roman"/>
                <a:cs typeface="Times New Roman"/>
                <a:sym typeface="Times New Roman"/>
              </a:rPr>
              <a:t>:</a:t>
            </a:r>
          </a:p>
          <a:p>
            <a:pPr marL="457200" lvl="0" indent="-323850" algn="just" rtl="0">
              <a:lnSpc>
                <a:spcPct val="115000"/>
              </a:lnSpc>
              <a:spcBef>
                <a:spcPts val="1200"/>
              </a:spcBef>
              <a:spcAft>
                <a:spcPts val="0"/>
              </a:spcAft>
              <a:buSzPts val="1500"/>
              <a:buFont typeface="Times New Roman"/>
              <a:buChar char="●"/>
            </a:pPr>
            <a:r>
              <a:rPr lang="en-US" sz="1600" dirty="0">
                <a:latin typeface="Times New Roman"/>
                <a:ea typeface="Times New Roman"/>
                <a:cs typeface="Times New Roman"/>
                <a:sym typeface="Times New Roman"/>
              </a:rPr>
              <a:t>The tool’s offline-first design ensures data privacy and usability in environments where cloud-based solutions are impractical, with consistent performance on all supported platforms.</a:t>
            </a:r>
          </a:p>
          <a:p>
            <a:pPr marL="0" lvl="0" indent="0" algn="just" rtl="0">
              <a:lnSpc>
                <a:spcPct val="115000"/>
              </a:lnSpc>
              <a:spcBef>
                <a:spcPts val="1200"/>
              </a:spcBef>
              <a:spcAft>
                <a:spcPts val="0"/>
              </a:spcAft>
              <a:buClr>
                <a:schemeClr val="dk1"/>
              </a:buClr>
              <a:buSzPts val="1100"/>
              <a:buFont typeface="Arial"/>
              <a:buNone/>
            </a:pPr>
            <a:r>
              <a:rPr lang="en-US" sz="1600" b="1" dirty="0">
                <a:latin typeface="Times New Roman"/>
                <a:ea typeface="Times New Roman"/>
                <a:cs typeface="Times New Roman"/>
                <a:sym typeface="Times New Roman"/>
              </a:rPr>
              <a:t>To Simplify malware analysis for beginner and intermediate users</a:t>
            </a:r>
            <a:r>
              <a:rPr lang="en-US" sz="1600" dirty="0">
                <a:latin typeface="Times New Roman"/>
                <a:ea typeface="Times New Roman"/>
                <a:cs typeface="Times New Roman"/>
                <a:sym typeface="Times New Roman"/>
              </a:rPr>
              <a:t>:</a:t>
            </a:r>
          </a:p>
          <a:p>
            <a:pPr marL="457200" lvl="0" indent="-323850" algn="just" rtl="0">
              <a:lnSpc>
                <a:spcPct val="115000"/>
              </a:lnSpc>
              <a:spcBef>
                <a:spcPts val="1200"/>
              </a:spcBef>
              <a:spcAft>
                <a:spcPts val="0"/>
              </a:spcAft>
              <a:buSzPts val="1500"/>
              <a:buFont typeface="Times New Roman"/>
              <a:buChar char="●"/>
            </a:pPr>
            <a:r>
              <a:rPr lang="en-US" sz="1600" dirty="0">
                <a:latin typeface="Times New Roman"/>
                <a:ea typeface="Times New Roman"/>
                <a:cs typeface="Times New Roman"/>
                <a:sym typeface="Times New Roman"/>
              </a:rPr>
              <a:t>The tool will prioritize a user-friendly interface, minimizing the learning curve while still providing advanced features for experienced analysts.</a:t>
            </a:r>
          </a:p>
          <a:p>
            <a:pPr marL="0" lvl="0" indent="0" algn="just" rtl="0">
              <a:lnSpc>
                <a:spcPct val="115000"/>
              </a:lnSpc>
              <a:spcBef>
                <a:spcPts val="1200"/>
              </a:spcBef>
              <a:spcAft>
                <a:spcPts val="0"/>
              </a:spcAft>
              <a:buClr>
                <a:schemeClr val="dk1"/>
              </a:buClr>
              <a:buSzPts val="1100"/>
              <a:buFont typeface="Arial"/>
              <a:buNone/>
            </a:pPr>
            <a:r>
              <a:rPr lang="en-US" sz="1600" b="1" dirty="0">
                <a:latin typeface="Times New Roman"/>
                <a:ea typeface="Times New Roman"/>
                <a:cs typeface="Times New Roman"/>
                <a:sym typeface="Times New Roman"/>
              </a:rPr>
              <a:t>To Incorporate static analysis, hash checking, and IOC detection</a:t>
            </a:r>
            <a:r>
              <a:rPr lang="en-US" sz="1600" dirty="0">
                <a:latin typeface="Times New Roman"/>
                <a:ea typeface="Times New Roman"/>
                <a:cs typeface="Times New Roman"/>
                <a:sym typeface="Times New Roman"/>
              </a:rPr>
              <a:t>:</a:t>
            </a:r>
          </a:p>
          <a:p>
            <a:pPr marL="457200" lvl="0" indent="-323850" algn="just" rtl="0">
              <a:lnSpc>
                <a:spcPct val="115000"/>
              </a:lnSpc>
              <a:spcBef>
                <a:spcPts val="1200"/>
              </a:spcBef>
              <a:spcAft>
                <a:spcPts val="0"/>
              </a:spcAft>
              <a:buSzPts val="1500"/>
              <a:buFont typeface="Times New Roman"/>
              <a:buChar char="●"/>
            </a:pPr>
            <a:r>
              <a:rPr lang="en-US" sz="1600" dirty="0">
                <a:latin typeface="Times New Roman"/>
                <a:ea typeface="Times New Roman"/>
                <a:cs typeface="Times New Roman"/>
                <a:sym typeface="Times New Roman"/>
              </a:rPr>
              <a:t>It will combine multiple analysis techniques, such as signature matching (static analysis), file integrity checks (hash verification), and searching for indicators of compromise, to offer a comprehensive threat detection approach.</a:t>
            </a:r>
          </a:p>
        </p:txBody>
      </p:sp>
      <p:sp>
        <p:nvSpPr>
          <p:cNvPr id="5" name="Footer Placeholder 3">
            <a:extLst>
              <a:ext uri="{FF2B5EF4-FFF2-40B4-BE49-F238E27FC236}">
                <a16:creationId xmlns:a16="http://schemas.microsoft.com/office/drawing/2014/main" id="{B97FCE9B-BD72-9C6F-DB53-5FF95C1260F0}"/>
              </a:ext>
            </a:extLst>
          </p:cNvPr>
          <p:cNvSpPr>
            <a:spLocks noGrp="1"/>
          </p:cNvSpPr>
          <p:nvPr>
            <p:ph type="ftr" sz="quarter" idx="11"/>
          </p:nvPr>
        </p:nvSpPr>
        <p:spPr>
          <a:xfrm>
            <a:off x="1981200" y="6370637"/>
            <a:ext cx="7010400" cy="425450"/>
          </a:xfrm>
        </p:spPr>
        <p:txBody>
          <a:bodyPr/>
          <a:lstStyle/>
          <a:p>
            <a:r>
              <a:rPr lang="en-US" dirty="0"/>
              <a:t>DEPARTMENT OF COMPUTER SCIENCE AND ENGINEERING SPECIALIZATION IN CYBER SECURITY     SLIDE NO: 9</a:t>
            </a:r>
          </a:p>
        </p:txBody>
      </p:sp>
      <p:pic>
        <p:nvPicPr>
          <p:cNvPr id="4" name="image1.png">
            <a:extLst>
              <a:ext uri="{FF2B5EF4-FFF2-40B4-BE49-F238E27FC236}">
                <a16:creationId xmlns:a16="http://schemas.microsoft.com/office/drawing/2014/main" id="{CB7ECE04-CB5C-169D-0B69-D960D085EA34}"/>
              </a:ext>
            </a:extLst>
          </p:cNvPr>
          <p:cNvPicPr/>
          <p:nvPr/>
        </p:nvPicPr>
        <p:blipFill>
          <a:blip r:embed="rId2">
            <a:extLst>
              <a:ext uri="{28A0092B-C50C-407E-A947-70E740481C1C}">
                <a14:useLocalDpi xmlns:a14="http://schemas.microsoft.com/office/drawing/2010/main" val="0"/>
              </a:ext>
            </a:extLst>
          </a:blip>
          <a:srcRect/>
          <a:stretch>
            <a:fillRect/>
          </a:stretch>
        </p:blipFill>
        <p:spPr>
          <a:xfrm>
            <a:off x="533400" y="274638"/>
            <a:ext cx="1447800" cy="914400"/>
          </a:xfrm>
          <a:prstGeom prst="rect">
            <a:avLst/>
          </a:prstGeom>
          <a:ln/>
        </p:spPr>
      </p:pic>
      <p:sp>
        <p:nvSpPr>
          <p:cNvPr id="6" name="TextBox 5">
            <a:extLst>
              <a:ext uri="{FF2B5EF4-FFF2-40B4-BE49-F238E27FC236}">
                <a16:creationId xmlns:a16="http://schemas.microsoft.com/office/drawing/2014/main" id="{C540B08C-93E5-00CF-FC0B-45473F678524}"/>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2138774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83296-AA6E-C625-62B4-207276592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3D9E1-A321-3249-6D6F-6A8A888EE1B1}"/>
              </a:ext>
            </a:extLst>
          </p:cNvPr>
          <p:cNvSpPr>
            <a:spLocks noGrp="1"/>
          </p:cNvSpPr>
          <p:nvPr>
            <p:ph type="title"/>
          </p:nvPr>
        </p:nvSpPr>
        <p:spPr/>
        <p:txBody>
          <a:bodyPr/>
          <a:lstStyle/>
          <a:p>
            <a:r>
              <a:rPr lang="en-IN" dirty="0"/>
              <a:t>Proposed-Novel Idea</a:t>
            </a:r>
          </a:p>
        </p:txBody>
      </p:sp>
      <p:sp>
        <p:nvSpPr>
          <p:cNvPr id="3" name="Content Placeholder 2">
            <a:extLst>
              <a:ext uri="{FF2B5EF4-FFF2-40B4-BE49-F238E27FC236}">
                <a16:creationId xmlns:a16="http://schemas.microsoft.com/office/drawing/2014/main" id="{40F67FB7-50FB-5E74-62F4-36E80069A958}"/>
              </a:ext>
            </a:extLst>
          </p:cNvPr>
          <p:cNvSpPr>
            <a:spLocks noGrp="1"/>
          </p:cNvSpPr>
          <p:nvPr>
            <p:ph idx="1"/>
          </p:nvPr>
        </p:nvSpPr>
        <p:spPr/>
        <p:txBody>
          <a:bodyPr>
            <a:normAutofit/>
          </a:bodyPr>
          <a:lstStyle/>
          <a:p>
            <a:pPr marL="457200" lvl="0" indent="-317500" algn="just" rtl="0">
              <a:lnSpc>
                <a:spcPct val="115000"/>
              </a:lnSpc>
              <a:spcBef>
                <a:spcPts val="1200"/>
              </a:spcBef>
              <a:spcAft>
                <a:spcPts val="0"/>
              </a:spcAft>
              <a:buSzPts val="1400"/>
              <a:buChar char="●"/>
            </a:pPr>
            <a:r>
              <a:rPr lang="en-US" sz="1600" b="1" dirty="0">
                <a:latin typeface="Times New Roman"/>
                <a:ea typeface="Times New Roman"/>
                <a:cs typeface="Times New Roman"/>
                <a:sym typeface="Times New Roman"/>
              </a:rPr>
              <a:t>Hybrid Analysis</a:t>
            </a:r>
            <a:r>
              <a:rPr lang="en-US" sz="1600" dirty="0">
                <a:latin typeface="Times New Roman"/>
                <a:ea typeface="Times New Roman"/>
                <a:cs typeface="Times New Roman"/>
                <a:sym typeface="Times New Roman"/>
              </a:rPr>
              <a:t>:</a:t>
            </a:r>
          </a:p>
          <a:p>
            <a:pPr marL="914400" lvl="1" indent="-317500" algn="just" rtl="0">
              <a:lnSpc>
                <a:spcPct val="115000"/>
              </a:lnSpc>
              <a:spcBef>
                <a:spcPts val="0"/>
              </a:spcBef>
              <a:spcAft>
                <a:spcPts val="0"/>
              </a:spcAft>
              <a:buSzPts val="1400"/>
              <a:buFont typeface="Times New Roman"/>
              <a:buChar char="○"/>
            </a:pPr>
            <a:r>
              <a:rPr lang="en-US" sz="1600" dirty="0">
                <a:latin typeface="Times New Roman"/>
                <a:ea typeface="Times New Roman"/>
                <a:cs typeface="Times New Roman"/>
                <a:sym typeface="Times New Roman"/>
              </a:rPr>
              <a:t>Combines static analysis, hash verification, and basic behavioral analysis to provide a comprehensive detection mechanism.</a:t>
            </a:r>
          </a:p>
          <a:p>
            <a:pPr marL="457200" lvl="0" indent="-317500" algn="just" rtl="0">
              <a:lnSpc>
                <a:spcPct val="115000"/>
              </a:lnSpc>
              <a:spcBef>
                <a:spcPts val="0"/>
              </a:spcBef>
              <a:spcAft>
                <a:spcPts val="0"/>
              </a:spcAft>
              <a:buSzPts val="1400"/>
              <a:buChar char="●"/>
            </a:pPr>
            <a:r>
              <a:rPr lang="en-US" sz="1600" b="1" dirty="0">
                <a:latin typeface="Times New Roman"/>
                <a:ea typeface="Times New Roman"/>
                <a:cs typeface="Times New Roman"/>
                <a:sym typeface="Times New Roman"/>
              </a:rPr>
              <a:t>Offline Functionality</a:t>
            </a:r>
            <a:r>
              <a:rPr lang="en-US" sz="1600" dirty="0">
                <a:latin typeface="Times New Roman"/>
                <a:ea typeface="Times New Roman"/>
                <a:cs typeface="Times New Roman"/>
                <a:sym typeface="Times New Roman"/>
              </a:rPr>
              <a:t>:</a:t>
            </a:r>
          </a:p>
          <a:p>
            <a:pPr marL="914400" lvl="1" indent="-317500" algn="just" rtl="0">
              <a:lnSpc>
                <a:spcPct val="115000"/>
              </a:lnSpc>
              <a:spcBef>
                <a:spcPts val="0"/>
              </a:spcBef>
              <a:spcAft>
                <a:spcPts val="0"/>
              </a:spcAft>
              <a:buSzPts val="1400"/>
              <a:buFont typeface="Times New Roman"/>
              <a:buChar char="○"/>
            </a:pPr>
            <a:r>
              <a:rPr lang="en-US" sz="1600" dirty="0">
                <a:latin typeface="Times New Roman"/>
                <a:ea typeface="Times New Roman"/>
                <a:cs typeface="Times New Roman"/>
                <a:sym typeface="Times New Roman"/>
              </a:rPr>
              <a:t>Unlike most modern tools, Payload Decoder operates entirely offline, ensuring privacy and usability in secure environments.</a:t>
            </a:r>
          </a:p>
          <a:p>
            <a:pPr marL="457200" lvl="0" indent="-317500" algn="just" rtl="0">
              <a:lnSpc>
                <a:spcPct val="115000"/>
              </a:lnSpc>
              <a:spcBef>
                <a:spcPts val="0"/>
              </a:spcBef>
              <a:spcAft>
                <a:spcPts val="0"/>
              </a:spcAft>
              <a:buSzPts val="1400"/>
              <a:buChar char="●"/>
            </a:pPr>
            <a:r>
              <a:rPr lang="en-US" sz="1600" b="1" dirty="0">
                <a:latin typeface="Times New Roman"/>
                <a:ea typeface="Times New Roman"/>
                <a:cs typeface="Times New Roman"/>
                <a:sym typeface="Times New Roman"/>
              </a:rPr>
              <a:t>Modular Design</a:t>
            </a:r>
            <a:r>
              <a:rPr lang="en-US" sz="1600" dirty="0">
                <a:latin typeface="Times New Roman"/>
                <a:ea typeface="Times New Roman"/>
                <a:cs typeface="Times New Roman"/>
                <a:sym typeface="Times New Roman"/>
              </a:rPr>
              <a:t>:</a:t>
            </a:r>
          </a:p>
          <a:p>
            <a:pPr marL="914400" lvl="1" indent="-317500" algn="just" rtl="0">
              <a:lnSpc>
                <a:spcPct val="115000"/>
              </a:lnSpc>
              <a:spcBef>
                <a:spcPts val="0"/>
              </a:spcBef>
              <a:spcAft>
                <a:spcPts val="0"/>
              </a:spcAft>
              <a:buSzPts val="1400"/>
              <a:buFont typeface="Times New Roman"/>
              <a:buChar char="○"/>
            </a:pPr>
            <a:r>
              <a:rPr lang="en-US" sz="1600" dirty="0">
                <a:latin typeface="Times New Roman"/>
                <a:ea typeface="Times New Roman"/>
                <a:cs typeface="Times New Roman"/>
                <a:sym typeface="Times New Roman"/>
              </a:rPr>
              <a:t>Users can add or customize detection rules, making the system extensible and future-proof.</a:t>
            </a:r>
          </a:p>
          <a:p>
            <a:pPr marL="457200" lvl="0" indent="-317500" algn="just" rtl="0">
              <a:lnSpc>
                <a:spcPct val="115000"/>
              </a:lnSpc>
              <a:spcBef>
                <a:spcPts val="0"/>
              </a:spcBef>
              <a:spcAft>
                <a:spcPts val="0"/>
              </a:spcAft>
              <a:buSzPts val="1400"/>
              <a:buChar char="●"/>
            </a:pPr>
            <a:r>
              <a:rPr lang="en-US" sz="1600" b="1" dirty="0">
                <a:latin typeface="Times New Roman"/>
                <a:ea typeface="Times New Roman"/>
                <a:cs typeface="Times New Roman"/>
                <a:sym typeface="Times New Roman"/>
              </a:rPr>
              <a:t>Future Enhancements</a:t>
            </a:r>
            <a:r>
              <a:rPr lang="en-US" sz="1600" dirty="0">
                <a:latin typeface="Times New Roman"/>
                <a:ea typeface="Times New Roman"/>
                <a:cs typeface="Times New Roman"/>
                <a:sym typeface="Times New Roman"/>
              </a:rPr>
              <a:t>:</a:t>
            </a:r>
          </a:p>
          <a:p>
            <a:pPr marL="914400" lvl="1" indent="-317500" algn="just" rtl="0">
              <a:lnSpc>
                <a:spcPct val="115000"/>
              </a:lnSpc>
              <a:spcBef>
                <a:spcPts val="0"/>
              </a:spcBef>
              <a:spcAft>
                <a:spcPts val="0"/>
              </a:spcAft>
              <a:buSzPts val="1400"/>
              <a:buFont typeface="Times New Roman"/>
              <a:buChar char="○"/>
            </a:pPr>
            <a:r>
              <a:rPr lang="en-US" sz="1600" dirty="0">
                <a:latin typeface="Times New Roman"/>
                <a:ea typeface="Times New Roman"/>
                <a:cs typeface="Times New Roman"/>
                <a:sym typeface="Times New Roman"/>
              </a:rPr>
              <a:t>Integration with machine learning models for dynamic malware classification.</a:t>
            </a:r>
          </a:p>
          <a:p>
            <a:pPr marL="914400" lvl="1" indent="-317500" algn="just" rtl="0">
              <a:lnSpc>
                <a:spcPct val="115000"/>
              </a:lnSpc>
              <a:spcBef>
                <a:spcPts val="0"/>
              </a:spcBef>
              <a:spcAft>
                <a:spcPts val="0"/>
              </a:spcAft>
              <a:buSzPts val="1400"/>
              <a:buFont typeface="Times New Roman"/>
              <a:buChar char="○"/>
            </a:pPr>
            <a:r>
              <a:rPr lang="en-US" sz="1600" dirty="0">
                <a:latin typeface="Times New Roman"/>
                <a:ea typeface="Times New Roman"/>
                <a:cs typeface="Times New Roman"/>
                <a:sym typeface="Times New Roman"/>
              </a:rPr>
              <a:t>Real-time monitoring and threat scoring.</a:t>
            </a:r>
          </a:p>
          <a:p>
            <a:pPr marL="914400" lvl="1" indent="-317500" algn="just" rtl="0">
              <a:lnSpc>
                <a:spcPct val="115000"/>
              </a:lnSpc>
              <a:spcBef>
                <a:spcPts val="0"/>
              </a:spcBef>
              <a:spcAft>
                <a:spcPts val="0"/>
              </a:spcAft>
              <a:buSzPts val="1400"/>
              <a:buFont typeface="Times New Roman"/>
              <a:buChar char="○"/>
            </a:pPr>
            <a:r>
              <a:rPr lang="en-US" sz="1600" dirty="0">
                <a:latin typeface="Times New Roman"/>
                <a:ea typeface="Times New Roman"/>
                <a:cs typeface="Times New Roman"/>
                <a:sym typeface="Times New Roman"/>
              </a:rPr>
              <a:t>Extension for Cipher Guard</a:t>
            </a:r>
          </a:p>
        </p:txBody>
      </p:sp>
      <p:sp>
        <p:nvSpPr>
          <p:cNvPr id="5" name="Footer Placeholder 3">
            <a:extLst>
              <a:ext uri="{FF2B5EF4-FFF2-40B4-BE49-F238E27FC236}">
                <a16:creationId xmlns:a16="http://schemas.microsoft.com/office/drawing/2014/main" id="{685368F6-4CC5-7AD4-17D1-2541F526DB8A}"/>
              </a:ext>
            </a:extLst>
          </p:cNvPr>
          <p:cNvSpPr>
            <a:spLocks noGrp="1"/>
          </p:cNvSpPr>
          <p:nvPr>
            <p:ph type="ftr" sz="quarter" idx="11"/>
          </p:nvPr>
        </p:nvSpPr>
        <p:spPr>
          <a:xfrm>
            <a:off x="1981200" y="6308725"/>
            <a:ext cx="7086600" cy="425450"/>
          </a:xfrm>
        </p:spPr>
        <p:txBody>
          <a:bodyPr/>
          <a:lstStyle/>
          <a:p>
            <a:r>
              <a:rPr lang="en-US" dirty="0"/>
              <a:t>DEPARTMENT OF COMPUTER SCIENCE AND ENGINEERING SPECIALIZATION IN CYBER SECURITY    SLIDE NO: 13</a:t>
            </a:r>
          </a:p>
        </p:txBody>
      </p:sp>
      <p:pic>
        <p:nvPicPr>
          <p:cNvPr id="4" name="image1.png">
            <a:extLst>
              <a:ext uri="{FF2B5EF4-FFF2-40B4-BE49-F238E27FC236}">
                <a16:creationId xmlns:a16="http://schemas.microsoft.com/office/drawing/2014/main" id="{03EA8692-2030-5D15-6B83-3A65CD62FBB2}"/>
              </a:ext>
            </a:extLst>
          </p:cNvPr>
          <p:cNvPicPr/>
          <p:nvPr/>
        </p:nvPicPr>
        <p:blipFill>
          <a:blip r:embed="rId2">
            <a:extLst>
              <a:ext uri="{28A0092B-C50C-407E-A947-70E740481C1C}">
                <a14:useLocalDpi xmlns:a14="http://schemas.microsoft.com/office/drawing/2010/main" val="0"/>
              </a:ext>
            </a:extLst>
          </a:blip>
          <a:srcRect/>
          <a:stretch>
            <a:fillRect/>
          </a:stretch>
        </p:blipFill>
        <p:spPr>
          <a:xfrm>
            <a:off x="304800" y="388938"/>
            <a:ext cx="1447800" cy="914400"/>
          </a:xfrm>
          <a:prstGeom prst="rect">
            <a:avLst/>
          </a:prstGeom>
          <a:ln/>
        </p:spPr>
      </p:pic>
      <p:sp>
        <p:nvSpPr>
          <p:cNvPr id="6" name="TextBox 5">
            <a:extLst>
              <a:ext uri="{FF2B5EF4-FFF2-40B4-BE49-F238E27FC236}">
                <a16:creationId xmlns:a16="http://schemas.microsoft.com/office/drawing/2014/main" id="{DB52DCD5-C4A6-020E-842D-0410400EE659}"/>
              </a:ext>
            </a:extLst>
          </p:cNvPr>
          <p:cNvSpPr txBox="1"/>
          <p:nvPr/>
        </p:nvSpPr>
        <p:spPr>
          <a:xfrm>
            <a:off x="-176684" y="6176674"/>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2245321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4676-942D-2806-14C4-6C31CB61E340}"/>
              </a:ext>
            </a:extLst>
          </p:cNvPr>
          <p:cNvSpPr>
            <a:spLocks noGrp="1"/>
          </p:cNvSpPr>
          <p:nvPr>
            <p:ph type="title"/>
          </p:nvPr>
        </p:nvSpPr>
        <p:spPr>
          <a:xfrm>
            <a:off x="928396" y="143216"/>
            <a:ext cx="8229600" cy="1143000"/>
          </a:xfrm>
        </p:spPr>
        <p:txBody>
          <a:bodyPr/>
          <a:lstStyle/>
          <a:p>
            <a:r>
              <a:rPr lang="en-IN" dirty="0"/>
              <a:t>Proposed Work-Block Diagram</a:t>
            </a:r>
          </a:p>
        </p:txBody>
      </p:sp>
      <p:sp>
        <p:nvSpPr>
          <p:cNvPr id="5" name="Footer Placeholder 3">
            <a:extLst>
              <a:ext uri="{FF2B5EF4-FFF2-40B4-BE49-F238E27FC236}">
                <a16:creationId xmlns:a16="http://schemas.microsoft.com/office/drawing/2014/main" id="{A128582F-7572-1062-99B3-A39907C2DE02}"/>
              </a:ext>
            </a:extLst>
          </p:cNvPr>
          <p:cNvSpPr>
            <a:spLocks noGrp="1"/>
          </p:cNvSpPr>
          <p:nvPr>
            <p:ph type="ftr" sz="quarter" idx="11"/>
          </p:nvPr>
        </p:nvSpPr>
        <p:spPr>
          <a:xfrm>
            <a:off x="1981200" y="6291792"/>
            <a:ext cx="7010400" cy="425450"/>
          </a:xfrm>
        </p:spPr>
        <p:txBody>
          <a:bodyPr/>
          <a:lstStyle/>
          <a:p>
            <a:r>
              <a:rPr lang="en-US" dirty="0"/>
              <a:t>DEPARTMENT OF COMPUTER SCIENCE AND ENGINEERING SPECIALIZATION IN CYBER SECURITY    SLIDE NO: 11</a:t>
            </a:r>
          </a:p>
        </p:txBody>
      </p:sp>
      <p:pic>
        <p:nvPicPr>
          <p:cNvPr id="10" name="Content Placeholder 9" descr="A diagram of a software process">
            <a:extLst>
              <a:ext uri="{FF2B5EF4-FFF2-40B4-BE49-F238E27FC236}">
                <a16:creationId xmlns:a16="http://schemas.microsoft.com/office/drawing/2014/main" id="{5162638E-BD5C-CC0B-CB73-87D61BE881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1417638"/>
            <a:ext cx="6781800" cy="4708525"/>
          </a:xfrm>
        </p:spPr>
      </p:pic>
      <p:pic>
        <p:nvPicPr>
          <p:cNvPr id="3" name="image1.png">
            <a:extLst>
              <a:ext uri="{FF2B5EF4-FFF2-40B4-BE49-F238E27FC236}">
                <a16:creationId xmlns:a16="http://schemas.microsoft.com/office/drawing/2014/main" id="{AD1CCD53-BDC0-F592-9457-2DF7ADDC6124}"/>
              </a:ext>
            </a:extLst>
          </p:cNvPr>
          <p:cNvPicPr/>
          <p:nvPr/>
        </p:nvPicPr>
        <p:blipFill>
          <a:blip r:embed="rId3">
            <a:extLst>
              <a:ext uri="{28A0092B-C50C-407E-A947-70E740481C1C}">
                <a14:useLocalDpi xmlns:a14="http://schemas.microsoft.com/office/drawing/2010/main" val="0"/>
              </a:ext>
            </a:extLst>
          </a:blip>
          <a:srcRect/>
          <a:stretch>
            <a:fillRect/>
          </a:stretch>
        </p:blipFill>
        <p:spPr>
          <a:xfrm>
            <a:off x="76200" y="240394"/>
            <a:ext cx="1447800" cy="914400"/>
          </a:xfrm>
          <a:prstGeom prst="rect">
            <a:avLst/>
          </a:prstGeom>
          <a:ln/>
        </p:spPr>
      </p:pic>
      <p:sp>
        <p:nvSpPr>
          <p:cNvPr id="4" name="TextBox 3">
            <a:extLst>
              <a:ext uri="{FF2B5EF4-FFF2-40B4-BE49-F238E27FC236}">
                <a16:creationId xmlns:a16="http://schemas.microsoft.com/office/drawing/2014/main" id="{D71CC569-7C2F-A001-FB0E-F487770B3164}"/>
              </a:ext>
            </a:extLst>
          </p:cNvPr>
          <p:cNvSpPr txBox="1"/>
          <p:nvPr/>
        </p:nvSpPr>
        <p:spPr>
          <a:xfrm>
            <a:off x="-152400" y="6120600"/>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642238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63BE-AEC5-6C73-2304-19475EB721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7F850-BB97-2C28-A05E-E1D9269A48F1}"/>
              </a:ext>
            </a:extLst>
          </p:cNvPr>
          <p:cNvSpPr>
            <a:spLocks noGrp="1"/>
          </p:cNvSpPr>
          <p:nvPr>
            <p:ph type="title"/>
          </p:nvPr>
        </p:nvSpPr>
        <p:spPr>
          <a:xfrm>
            <a:off x="1219200" y="99527"/>
            <a:ext cx="8229600" cy="1143000"/>
          </a:xfrm>
        </p:spPr>
        <p:txBody>
          <a:bodyPr/>
          <a:lstStyle/>
          <a:p>
            <a:r>
              <a:rPr lang="en-IN" dirty="0"/>
              <a:t>Proposed </a:t>
            </a:r>
            <a:r>
              <a:rPr lang="en-US" sz="4400" b="0" i="0" u="none" strike="noStrike" dirty="0">
                <a:solidFill>
                  <a:srgbClr val="000000"/>
                </a:solidFill>
                <a:effectLst/>
                <a:latin typeface="Calibri" panose="020F0502020204030204" pitchFamily="34" charset="0"/>
              </a:rPr>
              <a:t>Architecture </a:t>
            </a:r>
            <a:r>
              <a:rPr lang="en-IN" dirty="0"/>
              <a:t>Diagram</a:t>
            </a:r>
          </a:p>
        </p:txBody>
      </p:sp>
      <p:sp>
        <p:nvSpPr>
          <p:cNvPr id="5" name="Footer Placeholder 3">
            <a:extLst>
              <a:ext uri="{FF2B5EF4-FFF2-40B4-BE49-F238E27FC236}">
                <a16:creationId xmlns:a16="http://schemas.microsoft.com/office/drawing/2014/main" id="{EAD3F7EB-A822-795A-528F-92896D1CED16}"/>
              </a:ext>
            </a:extLst>
          </p:cNvPr>
          <p:cNvSpPr>
            <a:spLocks noGrp="1"/>
          </p:cNvSpPr>
          <p:nvPr>
            <p:ph type="ftr" sz="quarter" idx="11"/>
          </p:nvPr>
        </p:nvSpPr>
        <p:spPr>
          <a:xfrm>
            <a:off x="1981200" y="6333023"/>
            <a:ext cx="7010400" cy="425450"/>
          </a:xfrm>
        </p:spPr>
        <p:txBody>
          <a:bodyPr/>
          <a:lstStyle/>
          <a:p>
            <a:r>
              <a:rPr lang="en-US" dirty="0"/>
              <a:t>DEPARTMENT OF COMPUTER SCIENCE AND ENGINEERING SPECIALIZATION IN CYBER SECURITY    SLIDE NO: 12</a:t>
            </a:r>
          </a:p>
        </p:txBody>
      </p:sp>
      <p:pic>
        <p:nvPicPr>
          <p:cNvPr id="6" name="Picture 5">
            <a:extLst>
              <a:ext uri="{FF2B5EF4-FFF2-40B4-BE49-F238E27FC236}">
                <a16:creationId xmlns:a16="http://schemas.microsoft.com/office/drawing/2014/main" id="{7EFCAF66-B4FD-2705-BFED-F25096B41D6F}"/>
              </a:ext>
            </a:extLst>
          </p:cNvPr>
          <p:cNvPicPr>
            <a:picLocks noChangeAspect="1"/>
          </p:cNvPicPr>
          <p:nvPr/>
        </p:nvPicPr>
        <p:blipFill>
          <a:blip r:embed="rId2"/>
          <a:stretch>
            <a:fillRect/>
          </a:stretch>
        </p:blipFill>
        <p:spPr>
          <a:xfrm>
            <a:off x="457200" y="1449593"/>
            <a:ext cx="8229600" cy="4523624"/>
          </a:xfrm>
          <a:prstGeom prst="rect">
            <a:avLst/>
          </a:prstGeom>
        </p:spPr>
      </p:pic>
      <p:pic>
        <p:nvPicPr>
          <p:cNvPr id="3" name="image1.png">
            <a:extLst>
              <a:ext uri="{FF2B5EF4-FFF2-40B4-BE49-F238E27FC236}">
                <a16:creationId xmlns:a16="http://schemas.microsoft.com/office/drawing/2014/main" id="{080EF6CB-F156-B2CE-F04C-B1B1D8B00C83}"/>
              </a:ext>
            </a:extLst>
          </p:cNvPr>
          <p:cNvPicPr/>
          <p:nvPr/>
        </p:nvPicPr>
        <p:blipFill>
          <a:blip r:embed="rId3">
            <a:extLst>
              <a:ext uri="{28A0092B-C50C-407E-A947-70E740481C1C}">
                <a14:useLocalDpi xmlns:a14="http://schemas.microsoft.com/office/drawing/2010/main" val="0"/>
              </a:ext>
            </a:extLst>
          </a:blip>
          <a:srcRect/>
          <a:stretch>
            <a:fillRect/>
          </a:stretch>
        </p:blipFill>
        <p:spPr>
          <a:xfrm>
            <a:off x="228600" y="213827"/>
            <a:ext cx="1447800" cy="914400"/>
          </a:xfrm>
          <a:prstGeom prst="rect">
            <a:avLst/>
          </a:prstGeom>
          <a:ln/>
        </p:spPr>
      </p:pic>
      <p:sp>
        <p:nvSpPr>
          <p:cNvPr id="4" name="TextBox 3">
            <a:extLst>
              <a:ext uri="{FF2B5EF4-FFF2-40B4-BE49-F238E27FC236}">
                <a16:creationId xmlns:a16="http://schemas.microsoft.com/office/drawing/2014/main" id="{00ECB5EC-B73B-696B-A47E-BBB39F634B0B}"/>
              </a:ext>
            </a:extLst>
          </p:cNvPr>
          <p:cNvSpPr txBox="1"/>
          <p:nvPr/>
        </p:nvSpPr>
        <p:spPr>
          <a:xfrm>
            <a:off x="-152400" y="6180283"/>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3118653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a:xfrm>
            <a:off x="1219200" y="160337"/>
            <a:ext cx="8229600" cy="1143000"/>
          </a:xfrm>
        </p:spPr>
        <p:txBody>
          <a:bodyPr>
            <a:normAutofit fontScale="90000"/>
          </a:bodyPr>
          <a:lstStyle/>
          <a:p>
            <a:r>
              <a:rPr lang="en-IN" dirty="0"/>
              <a:t>Software &amp; Hardware Requirements</a:t>
            </a:r>
          </a:p>
        </p:txBody>
      </p:sp>
      <p:sp>
        <p:nvSpPr>
          <p:cNvPr id="3" name="Content Placeholder 2">
            <a:extLst>
              <a:ext uri="{FF2B5EF4-FFF2-40B4-BE49-F238E27FC236}">
                <a16:creationId xmlns:a16="http://schemas.microsoft.com/office/drawing/2014/main" id="{AB1EBEB7-6EC6-59E9-6A64-0C3DD4EF15BD}"/>
              </a:ext>
            </a:extLst>
          </p:cNvPr>
          <p:cNvSpPr>
            <a:spLocks noGrp="1"/>
          </p:cNvSpPr>
          <p:nvPr>
            <p:ph idx="1"/>
          </p:nvPr>
        </p:nvSpPr>
        <p:spPr/>
        <p:txBody>
          <a:bodyPr>
            <a:normAutofit fontScale="77500" lnSpcReduction="20000"/>
          </a:bodyPr>
          <a:lstStyle/>
          <a:p>
            <a:pPr marL="0" indent="0" algn="just">
              <a:buNone/>
            </a:pPr>
            <a:r>
              <a:rPr lang="en-IN" b="1" dirty="0">
                <a:latin typeface="Times New Roman" panose="02020603050405020304" pitchFamily="18" charset="0"/>
                <a:cs typeface="Times New Roman" panose="02020603050405020304" pitchFamily="18" charset="0"/>
              </a:rPr>
              <a:t>Software Requirements</a:t>
            </a:r>
          </a:p>
          <a:p>
            <a:pPr lvl="2" algn="just"/>
            <a:r>
              <a:rPr lang="en-IN" b="1" dirty="0">
                <a:latin typeface="Times New Roman" panose="02020603050405020304" pitchFamily="18" charset="0"/>
                <a:cs typeface="Times New Roman" panose="02020603050405020304" pitchFamily="18" charset="0"/>
              </a:rPr>
              <a:t>Programming Language: </a:t>
            </a:r>
            <a:r>
              <a:rPr lang="en-IN" dirty="0">
                <a:latin typeface="Times New Roman" panose="02020603050405020304" pitchFamily="18" charset="0"/>
                <a:cs typeface="Times New Roman" panose="02020603050405020304" pitchFamily="18" charset="0"/>
              </a:rPr>
              <a:t>Python</a:t>
            </a:r>
          </a:p>
          <a:p>
            <a:pPr lvl="2" algn="just"/>
            <a:r>
              <a:rPr lang="en-IN" b="1" dirty="0">
                <a:latin typeface="Times New Roman" panose="02020603050405020304" pitchFamily="18" charset="0"/>
                <a:cs typeface="Times New Roman" panose="02020603050405020304" pitchFamily="18" charset="0"/>
              </a:rPr>
              <a:t>Libraries:</a:t>
            </a:r>
          </a:p>
          <a:p>
            <a:pPr marL="800100" lvl="2" indent="0" algn="just">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pefile</a:t>
            </a:r>
            <a:r>
              <a:rPr lang="en-IN" dirty="0">
                <a:latin typeface="Times New Roman" panose="02020603050405020304" pitchFamily="18" charset="0"/>
                <a:cs typeface="Times New Roman" panose="02020603050405020304" pitchFamily="18" charset="0"/>
              </a:rPr>
              <a:t> – For PE header extraction.</a:t>
            </a:r>
          </a:p>
          <a:p>
            <a:pPr marL="800100" lvl="2" indent="0" algn="just">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yara</a:t>
            </a:r>
            <a:r>
              <a:rPr lang="en-IN" dirty="0">
                <a:latin typeface="Times New Roman" panose="02020603050405020304" pitchFamily="18" charset="0"/>
                <a:cs typeface="Times New Roman" panose="02020603050405020304" pitchFamily="18" charset="0"/>
              </a:rPr>
              <a:t>-python – For signature-based detection.</a:t>
            </a:r>
          </a:p>
          <a:p>
            <a:pPr marL="800100" lvl="2" indent="0" algn="just">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hashlib</a:t>
            </a:r>
            <a:r>
              <a:rPr lang="en-IN" dirty="0">
                <a:latin typeface="Times New Roman" panose="02020603050405020304" pitchFamily="18" charset="0"/>
                <a:cs typeface="Times New Roman" panose="02020603050405020304" pitchFamily="18" charset="0"/>
              </a:rPr>
              <a:t> – For computing file hashes.</a:t>
            </a:r>
          </a:p>
          <a:p>
            <a:pPr marL="800100" lvl="2" indent="0" algn="just">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ttkbootstrap</a:t>
            </a:r>
            <a:r>
              <a:rPr lang="en-IN" dirty="0">
                <a:latin typeface="Times New Roman" panose="02020603050405020304" pitchFamily="18" charset="0"/>
                <a:cs typeface="Times New Roman" panose="02020603050405020304" pitchFamily="18" charset="0"/>
              </a:rPr>
              <a:t> – For GUI development.</a:t>
            </a:r>
          </a:p>
          <a:p>
            <a:pPr lvl="2" algn="just"/>
            <a:r>
              <a:rPr lang="en-IN" b="1" dirty="0">
                <a:latin typeface="Times New Roman" panose="02020603050405020304" pitchFamily="18" charset="0"/>
                <a:cs typeface="Times New Roman" panose="02020603050405020304" pitchFamily="18" charset="0"/>
              </a:rPr>
              <a:t>Operating System: </a:t>
            </a:r>
            <a:r>
              <a:rPr lang="en-IN" dirty="0">
                <a:latin typeface="Times New Roman" panose="02020603050405020304" pitchFamily="18" charset="0"/>
                <a:cs typeface="Times New Roman" panose="02020603050405020304" pitchFamily="18" charset="0"/>
              </a:rPr>
              <a:t>Windows, Linux, macOS</a:t>
            </a:r>
          </a:p>
          <a:p>
            <a:pPr lvl="2" algn="just"/>
            <a:r>
              <a:rPr lang="en-IN" b="1" dirty="0">
                <a:latin typeface="Times New Roman" panose="02020603050405020304" pitchFamily="18" charset="0"/>
                <a:cs typeface="Times New Roman" panose="02020603050405020304" pitchFamily="18" charset="0"/>
              </a:rPr>
              <a:t>Development Tools: </a:t>
            </a:r>
            <a:r>
              <a:rPr lang="en-IN" dirty="0">
                <a:latin typeface="Times New Roman" panose="02020603050405020304" pitchFamily="18" charset="0"/>
                <a:cs typeface="Times New Roman" panose="02020603050405020304" pitchFamily="18" charset="0"/>
              </a:rPr>
              <a:t>PyCharm, VS Code, GitHub for version control</a:t>
            </a:r>
          </a:p>
          <a:p>
            <a:pPr marL="0" indent="0" algn="just">
              <a:buNone/>
            </a:pPr>
            <a:r>
              <a:rPr lang="en-IN" b="1" dirty="0">
                <a:latin typeface="Times New Roman" panose="02020603050405020304" pitchFamily="18" charset="0"/>
                <a:cs typeface="Times New Roman" panose="02020603050405020304" pitchFamily="18" charset="0"/>
              </a:rPr>
              <a:t>Hardware Requirements</a:t>
            </a:r>
          </a:p>
          <a:p>
            <a:pPr lvl="2" algn="just"/>
            <a:r>
              <a:rPr lang="en-IN" b="1" dirty="0">
                <a:latin typeface="Times New Roman" panose="02020603050405020304" pitchFamily="18" charset="0"/>
                <a:cs typeface="Times New Roman" panose="02020603050405020304" pitchFamily="18" charset="0"/>
              </a:rPr>
              <a:t>Processor: </a:t>
            </a:r>
            <a:r>
              <a:rPr lang="en-IN" dirty="0">
                <a:latin typeface="Times New Roman" panose="02020603050405020304" pitchFamily="18" charset="0"/>
                <a:cs typeface="Times New Roman" panose="02020603050405020304" pitchFamily="18" charset="0"/>
              </a:rPr>
              <a:t>Minimum Intel Core i3 / AMD </a:t>
            </a:r>
            <a:r>
              <a:rPr lang="en-IN" dirty="0" err="1">
                <a:latin typeface="Times New Roman" panose="02020603050405020304" pitchFamily="18" charset="0"/>
                <a:cs typeface="Times New Roman" panose="02020603050405020304" pitchFamily="18" charset="0"/>
              </a:rPr>
              <a:t>Ryzen</a:t>
            </a:r>
            <a:r>
              <a:rPr lang="en-IN" dirty="0">
                <a:latin typeface="Times New Roman" panose="02020603050405020304" pitchFamily="18" charset="0"/>
                <a:cs typeface="Times New Roman" panose="02020603050405020304" pitchFamily="18" charset="0"/>
              </a:rPr>
              <a:t> 3</a:t>
            </a:r>
          </a:p>
          <a:p>
            <a:pPr lvl="2" algn="just"/>
            <a:r>
              <a:rPr lang="en-IN" b="1" dirty="0">
                <a:latin typeface="Times New Roman" panose="02020603050405020304" pitchFamily="18" charset="0"/>
                <a:cs typeface="Times New Roman" panose="02020603050405020304" pitchFamily="18" charset="0"/>
              </a:rPr>
              <a:t>RAM: </a:t>
            </a:r>
            <a:r>
              <a:rPr lang="en-IN" dirty="0">
                <a:latin typeface="Times New Roman" panose="02020603050405020304" pitchFamily="18" charset="0"/>
                <a:cs typeface="Times New Roman" panose="02020603050405020304" pitchFamily="18" charset="0"/>
              </a:rPr>
              <a:t>4GB (Recommended: 8GB for larger files)</a:t>
            </a:r>
          </a:p>
          <a:p>
            <a:pPr lvl="2" algn="just"/>
            <a:r>
              <a:rPr lang="en-IN" b="1" dirty="0">
                <a:latin typeface="Times New Roman" panose="02020603050405020304" pitchFamily="18" charset="0"/>
                <a:cs typeface="Times New Roman" panose="02020603050405020304" pitchFamily="18" charset="0"/>
              </a:rPr>
              <a:t>Storage: </a:t>
            </a:r>
            <a:r>
              <a:rPr lang="en-IN" dirty="0">
                <a:latin typeface="Times New Roman" panose="02020603050405020304" pitchFamily="18" charset="0"/>
                <a:cs typeface="Times New Roman" panose="02020603050405020304" pitchFamily="18" charset="0"/>
              </a:rPr>
              <a:t>Minimum 500MB free disk space</a:t>
            </a:r>
          </a:p>
          <a:p>
            <a:pPr lvl="2" algn="just"/>
            <a:r>
              <a:rPr lang="en-IN" b="1" dirty="0">
                <a:latin typeface="Times New Roman" panose="02020603050405020304" pitchFamily="18" charset="0"/>
                <a:cs typeface="Times New Roman" panose="02020603050405020304" pitchFamily="18" charset="0"/>
              </a:rPr>
              <a:t>Graphics:</a:t>
            </a:r>
            <a:r>
              <a:rPr lang="en-IN" dirty="0">
                <a:latin typeface="Times New Roman" panose="02020603050405020304" pitchFamily="18" charset="0"/>
                <a:cs typeface="Times New Roman" panose="02020603050405020304" pitchFamily="18" charset="0"/>
              </a:rPr>
              <a:t> No special requirements</a:t>
            </a:r>
          </a:p>
          <a:p>
            <a:pPr marL="0" indent="0">
              <a:buNone/>
            </a:pPr>
            <a:endParaRPr lang="en-IN" dirty="0"/>
          </a:p>
        </p:txBody>
      </p:sp>
      <p:sp>
        <p:nvSpPr>
          <p:cNvPr id="5" name="Footer Placeholder 3">
            <a:extLst>
              <a:ext uri="{FF2B5EF4-FFF2-40B4-BE49-F238E27FC236}">
                <a16:creationId xmlns:a16="http://schemas.microsoft.com/office/drawing/2014/main" id="{4913B8B2-7A28-1E60-AA94-AD9E51087310}"/>
              </a:ext>
            </a:extLst>
          </p:cNvPr>
          <p:cNvSpPr>
            <a:spLocks noGrp="1"/>
          </p:cNvSpPr>
          <p:nvPr>
            <p:ph type="ftr" sz="quarter" idx="11"/>
          </p:nvPr>
        </p:nvSpPr>
        <p:spPr>
          <a:xfrm>
            <a:off x="2020529" y="6386155"/>
            <a:ext cx="7086600" cy="425450"/>
          </a:xfrm>
        </p:spPr>
        <p:txBody>
          <a:bodyPr/>
          <a:lstStyle/>
          <a:p>
            <a:r>
              <a:rPr lang="en-US" dirty="0"/>
              <a:t>DEPARTMENT OF COMPUTER SCIENCE AND ENGINEERING SPECIALIZATION IN CYBER SECURITY     SLIDE NO: 16</a:t>
            </a:r>
          </a:p>
        </p:txBody>
      </p:sp>
      <p:pic>
        <p:nvPicPr>
          <p:cNvPr id="4" name="image1.png">
            <a:extLst>
              <a:ext uri="{FF2B5EF4-FFF2-40B4-BE49-F238E27FC236}">
                <a16:creationId xmlns:a16="http://schemas.microsoft.com/office/drawing/2014/main" id="{76DFAA1A-0480-7978-BC76-A8BF5F211DF4}"/>
              </a:ext>
            </a:extLst>
          </p:cNvPr>
          <p:cNvPicPr/>
          <p:nvPr/>
        </p:nvPicPr>
        <p:blipFill>
          <a:blip r:embed="rId2">
            <a:extLst>
              <a:ext uri="{28A0092B-C50C-407E-A947-70E740481C1C}">
                <a14:useLocalDpi xmlns:a14="http://schemas.microsoft.com/office/drawing/2010/main" val="0"/>
              </a:ext>
            </a:extLst>
          </a:blip>
          <a:srcRect/>
          <a:stretch>
            <a:fillRect/>
          </a:stretch>
        </p:blipFill>
        <p:spPr>
          <a:xfrm>
            <a:off x="76200" y="274637"/>
            <a:ext cx="1447800" cy="914400"/>
          </a:xfrm>
          <a:prstGeom prst="rect">
            <a:avLst/>
          </a:prstGeom>
          <a:ln/>
        </p:spPr>
      </p:pic>
      <p:sp>
        <p:nvSpPr>
          <p:cNvPr id="6" name="TextBox 5">
            <a:extLst>
              <a:ext uri="{FF2B5EF4-FFF2-40B4-BE49-F238E27FC236}">
                <a16:creationId xmlns:a16="http://schemas.microsoft.com/office/drawing/2014/main" id="{CD684992-3164-3464-44A7-E5F7A5093A6A}"/>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2389465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6D6FE-9E57-93E6-EB75-87E3E6DF1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2E52C-3658-84C1-8A8C-EA4D13A4BEE6}"/>
              </a:ext>
            </a:extLst>
          </p:cNvPr>
          <p:cNvSpPr>
            <a:spLocks noGrp="1"/>
          </p:cNvSpPr>
          <p:nvPr>
            <p:ph type="title"/>
          </p:nvPr>
        </p:nvSpPr>
        <p:spPr>
          <a:xfrm>
            <a:off x="1219200" y="143132"/>
            <a:ext cx="8229600" cy="1143000"/>
          </a:xfrm>
        </p:spPr>
        <p:txBody>
          <a:bodyPr>
            <a:normAutofit/>
          </a:bodyPr>
          <a:lstStyle/>
          <a:p>
            <a:r>
              <a:rPr lang="en-IN" dirty="0"/>
              <a:t>Proposed-Modules &amp; </a:t>
            </a:r>
            <a:r>
              <a:rPr lang="en-US" sz="4400" dirty="0">
                <a:solidFill>
                  <a:srgbClr val="000000"/>
                </a:solidFill>
                <a:latin typeface="Calibri" panose="020F0502020204030204" pitchFamily="34" charset="0"/>
              </a:rPr>
              <a:t>Description</a:t>
            </a:r>
            <a:endParaRPr lang="en-IN" dirty="0"/>
          </a:p>
        </p:txBody>
      </p:sp>
      <p:sp>
        <p:nvSpPr>
          <p:cNvPr id="3" name="Content Placeholder 2">
            <a:extLst>
              <a:ext uri="{FF2B5EF4-FFF2-40B4-BE49-F238E27FC236}">
                <a16:creationId xmlns:a16="http://schemas.microsoft.com/office/drawing/2014/main" id="{0DD9D01E-F7A3-7741-FB43-DD653B6A110A}"/>
              </a:ext>
            </a:extLst>
          </p:cNvPr>
          <p:cNvSpPr>
            <a:spLocks noGrp="1"/>
          </p:cNvSpPr>
          <p:nvPr>
            <p:ph idx="1"/>
          </p:nvPr>
        </p:nvSpPr>
        <p:spPr>
          <a:xfrm>
            <a:off x="457200" y="1434844"/>
            <a:ext cx="8229600" cy="4525963"/>
          </a:xfrm>
        </p:spPr>
        <p:txBody>
          <a:bodyPr>
            <a:normAutofit/>
          </a:bodyPr>
          <a:lstStyle/>
          <a:p>
            <a:pPr marL="0" indent="0" algn="just">
              <a:buNone/>
            </a:pPr>
            <a:r>
              <a:rPr lang="en-US" sz="1600" b="1" dirty="0">
                <a:latin typeface="Times New Roman" panose="02020603050405020304" pitchFamily="18" charset="0"/>
                <a:cs typeface="Times New Roman" panose="02020603050405020304" pitchFamily="18" charset="0"/>
              </a:rPr>
              <a:t>1. Overview of the Proposed System</a:t>
            </a:r>
          </a:p>
          <a:p>
            <a:pPr algn="just"/>
            <a:r>
              <a:rPr lang="en-US" sz="1600" dirty="0">
                <a:latin typeface="Times New Roman" panose="02020603050405020304" pitchFamily="18" charset="0"/>
                <a:cs typeface="Times New Roman" panose="02020603050405020304" pitchFamily="18" charset="0"/>
              </a:rPr>
              <a:t>The proposed system is designed to analyze and decode malicious payloads by reverse engineering them. This helps in identifying hidden threats within encoded, obfuscated, or encrypted data used by malware. The system automates the extraction, decoding, and analysis of payloads to enhance threat detection capabilities.</a:t>
            </a:r>
            <a:endParaRPr lang="en-US" sz="1600" b="1" dirty="0">
              <a:latin typeface="Times New Roman" panose="02020603050405020304" pitchFamily="18" charset="0"/>
              <a:cs typeface="Times New Roman" panose="02020603050405020304" pitchFamily="18" charset="0"/>
            </a:endParaRPr>
          </a:p>
          <a:p>
            <a:pPr marL="0" indent="0" algn="just">
              <a:buNone/>
            </a:pPr>
            <a:endParaRPr lang="en-US" sz="1600" b="1"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2. Key Modules of the System</a:t>
            </a:r>
          </a:p>
          <a:p>
            <a:pPr algn="just"/>
            <a:r>
              <a:rPr lang="en-US" sz="1600" b="1" dirty="0">
                <a:latin typeface="Times New Roman" panose="02020603050405020304" pitchFamily="18" charset="0"/>
                <a:cs typeface="Times New Roman" panose="02020603050405020304" pitchFamily="18" charset="0"/>
              </a:rPr>
              <a:t> Payload Extraction Module</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Extracts payloads from different sources such as network traffic, malicious files, or embedded scripts.</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Identifies common payload formats, including shellcode, packed binaries, and obfuscated scripts.</a:t>
            </a:r>
          </a:p>
          <a:p>
            <a:pPr algn="just"/>
            <a:r>
              <a:rPr lang="en-US" sz="1600" b="1" dirty="0">
                <a:latin typeface="Times New Roman" panose="02020603050405020304" pitchFamily="18" charset="0"/>
                <a:cs typeface="Times New Roman" panose="02020603050405020304" pitchFamily="18" charset="0"/>
              </a:rPr>
              <a:t> Decoding &amp; Decryption Module</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Detects encoding and encryption techniques used by attackers (e.g., Base64, XOR, AES, RC4).</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Implements automated and manual decoding methods to retrieve the original payload.</a:t>
            </a:r>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p:txBody>
      </p:sp>
      <p:sp>
        <p:nvSpPr>
          <p:cNvPr id="5" name="Footer Placeholder 3">
            <a:extLst>
              <a:ext uri="{FF2B5EF4-FFF2-40B4-BE49-F238E27FC236}">
                <a16:creationId xmlns:a16="http://schemas.microsoft.com/office/drawing/2014/main" id="{11A4A037-5D80-CE0C-B279-0969CA630BBE}"/>
              </a:ext>
            </a:extLst>
          </p:cNvPr>
          <p:cNvSpPr>
            <a:spLocks noGrp="1"/>
          </p:cNvSpPr>
          <p:nvPr>
            <p:ph type="ftr" sz="quarter" idx="11"/>
          </p:nvPr>
        </p:nvSpPr>
        <p:spPr>
          <a:xfrm>
            <a:off x="1981200" y="6291876"/>
            <a:ext cx="7010400" cy="425450"/>
          </a:xfrm>
        </p:spPr>
        <p:txBody>
          <a:bodyPr/>
          <a:lstStyle/>
          <a:p>
            <a:r>
              <a:rPr lang="en-US" dirty="0"/>
              <a:t>DEPARTMENT OF COMPUTER SCIENCE AND ENGINEERING SPECIALIZATION IN CYBER SECURITY    SLIDE NO: 14</a:t>
            </a:r>
          </a:p>
        </p:txBody>
      </p:sp>
      <p:pic>
        <p:nvPicPr>
          <p:cNvPr id="4" name="image1.png">
            <a:extLst>
              <a:ext uri="{FF2B5EF4-FFF2-40B4-BE49-F238E27FC236}">
                <a16:creationId xmlns:a16="http://schemas.microsoft.com/office/drawing/2014/main" id="{C8F074BA-2BED-504D-F960-D5B01D340A89}"/>
              </a:ext>
            </a:extLst>
          </p:cNvPr>
          <p:cNvPicPr/>
          <p:nvPr/>
        </p:nvPicPr>
        <p:blipFill>
          <a:blip r:embed="rId2">
            <a:extLst>
              <a:ext uri="{28A0092B-C50C-407E-A947-70E740481C1C}">
                <a14:useLocalDpi xmlns:a14="http://schemas.microsoft.com/office/drawing/2010/main" val="0"/>
              </a:ext>
            </a:extLst>
          </a:blip>
          <a:srcRect/>
          <a:stretch>
            <a:fillRect/>
          </a:stretch>
        </p:blipFill>
        <p:spPr>
          <a:xfrm>
            <a:off x="76200" y="257432"/>
            <a:ext cx="1447800" cy="914400"/>
          </a:xfrm>
          <a:prstGeom prst="rect">
            <a:avLst/>
          </a:prstGeom>
          <a:ln/>
        </p:spPr>
      </p:pic>
      <p:sp>
        <p:nvSpPr>
          <p:cNvPr id="6" name="TextBox 5">
            <a:extLst>
              <a:ext uri="{FF2B5EF4-FFF2-40B4-BE49-F238E27FC236}">
                <a16:creationId xmlns:a16="http://schemas.microsoft.com/office/drawing/2014/main" id="{D4730F6D-BCCA-6148-63D0-570B23AC4C2A}"/>
              </a:ext>
            </a:extLst>
          </p:cNvPr>
          <p:cNvSpPr txBox="1"/>
          <p:nvPr/>
        </p:nvSpPr>
        <p:spPr>
          <a:xfrm>
            <a:off x="-152400" y="6212213"/>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81977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B8937-DED8-30F7-12A2-D1ABEC4CC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DC3DE-AA99-C1A3-5E87-9754F6A80CB9}"/>
              </a:ext>
            </a:extLst>
          </p:cNvPr>
          <p:cNvSpPr>
            <a:spLocks noGrp="1"/>
          </p:cNvSpPr>
          <p:nvPr>
            <p:ph type="title"/>
          </p:nvPr>
        </p:nvSpPr>
        <p:spPr>
          <a:xfrm>
            <a:off x="1219200" y="220761"/>
            <a:ext cx="8229600" cy="1143000"/>
          </a:xfrm>
        </p:spPr>
        <p:txBody>
          <a:bodyPr/>
          <a:lstStyle/>
          <a:p>
            <a:r>
              <a:rPr lang="en-IN" dirty="0"/>
              <a:t>Proposed-Modules &amp; </a:t>
            </a:r>
            <a:r>
              <a:rPr lang="en-US" sz="4400" dirty="0">
                <a:solidFill>
                  <a:srgbClr val="000000"/>
                </a:solidFill>
                <a:latin typeface="Calibri" panose="020F0502020204030204" pitchFamily="34" charset="0"/>
              </a:rPr>
              <a:t>Description</a:t>
            </a:r>
            <a:endParaRPr lang="en-IN" dirty="0"/>
          </a:p>
        </p:txBody>
      </p:sp>
      <p:sp>
        <p:nvSpPr>
          <p:cNvPr id="3" name="Content Placeholder 2">
            <a:extLst>
              <a:ext uri="{FF2B5EF4-FFF2-40B4-BE49-F238E27FC236}">
                <a16:creationId xmlns:a16="http://schemas.microsoft.com/office/drawing/2014/main" id="{9A589D0C-8A28-7F5B-D1B1-9B4D1FC1EFD6}"/>
              </a:ext>
            </a:extLst>
          </p:cNvPr>
          <p:cNvSpPr>
            <a:spLocks noGrp="1"/>
          </p:cNvSpPr>
          <p:nvPr>
            <p:ph idx="1"/>
          </p:nvPr>
        </p:nvSpPr>
        <p:spPr/>
        <p:txBody>
          <a:bodyPr>
            <a:normAutofit/>
          </a:bodyPr>
          <a:lstStyle/>
          <a:p>
            <a:pPr algn="just"/>
            <a:r>
              <a:rPr lang="en-US" sz="1600" b="1" dirty="0">
                <a:latin typeface="Times New Roman" panose="02020603050405020304" pitchFamily="18" charset="0"/>
                <a:cs typeface="Times New Roman" panose="02020603050405020304" pitchFamily="18" charset="0"/>
              </a:rPr>
              <a:t> Code Analysis &amp; Signature Matching</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Disassembles payloads to analyze their structure and functionality.</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Compares extracted code against known malware signatures and YARA rules.</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Identifies suspicious system calls and embedded commands.</a:t>
            </a:r>
          </a:p>
          <a:p>
            <a:pPr algn="just"/>
            <a:r>
              <a:rPr lang="en-US" sz="1600" b="1" dirty="0">
                <a:latin typeface="Times New Roman" panose="02020603050405020304" pitchFamily="18" charset="0"/>
                <a:cs typeface="Times New Roman" panose="02020603050405020304" pitchFamily="18" charset="0"/>
              </a:rPr>
              <a:t>Behavioral Analysis Module</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Runs payloads in a controlled sandbox environment to observe execution behavior.</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Monitors API calls, file modifications, and network connections.</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Detects persistence mechanisms and anti-analysis techniques.</a:t>
            </a:r>
          </a:p>
          <a:p>
            <a:pPr algn="just"/>
            <a:r>
              <a:rPr lang="en-US" sz="1600" b="1" dirty="0">
                <a:latin typeface="Times New Roman" panose="02020603050405020304" pitchFamily="18" charset="0"/>
                <a:cs typeface="Times New Roman" panose="02020603050405020304" pitchFamily="18" charset="0"/>
              </a:rPr>
              <a:t>Report Generation &amp; Logging</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Generates a detailed report containing the decoded payload, identified threats, and recommendations.</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Logs all activities for forensic investigation and incident response.</a:t>
            </a:r>
          </a:p>
          <a:p>
            <a:pPr lvl="1"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Supports integration with SIEM platforms for real-time threat intelligence.</a:t>
            </a:r>
          </a:p>
          <a:p>
            <a:endParaRPr lang="en-IN" dirty="0"/>
          </a:p>
        </p:txBody>
      </p:sp>
      <p:sp>
        <p:nvSpPr>
          <p:cNvPr id="5" name="Footer Placeholder 3">
            <a:extLst>
              <a:ext uri="{FF2B5EF4-FFF2-40B4-BE49-F238E27FC236}">
                <a16:creationId xmlns:a16="http://schemas.microsoft.com/office/drawing/2014/main" id="{DD700BA6-2C15-B0BC-3745-9BCD311AD7BA}"/>
              </a:ext>
            </a:extLst>
          </p:cNvPr>
          <p:cNvSpPr>
            <a:spLocks noGrp="1"/>
          </p:cNvSpPr>
          <p:nvPr>
            <p:ph type="ftr" sz="quarter" idx="11"/>
          </p:nvPr>
        </p:nvSpPr>
        <p:spPr>
          <a:xfrm>
            <a:off x="1905000" y="6392099"/>
            <a:ext cx="7086600" cy="425450"/>
          </a:xfrm>
        </p:spPr>
        <p:txBody>
          <a:bodyPr/>
          <a:lstStyle/>
          <a:p>
            <a:r>
              <a:rPr lang="en-US" dirty="0"/>
              <a:t>DEPARTMENT OF COMPUTER SCIENCE AND ENGINEERING SPECIALIZATION IN CYBER SECURITY      SLIDE NO: 15</a:t>
            </a:r>
          </a:p>
        </p:txBody>
      </p:sp>
      <p:pic>
        <p:nvPicPr>
          <p:cNvPr id="4" name="image1.png">
            <a:extLst>
              <a:ext uri="{FF2B5EF4-FFF2-40B4-BE49-F238E27FC236}">
                <a16:creationId xmlns:a16="http://schemas.microsoft.com/office/drawing/2014/main" id="{91E72C7A-0433-C5D0-B8E2-897CC0201F23}"/>
              </a:ext>
            </a:extLst>
          </p:cNvPr>
          <p:cNvPicPr/>
          <p:nvPr/>
        </p:nvPicPr>
        <p:blipFill>
          <a:blip r:embed="rId2">
            <a:extLst>
              <a:ext uri="{28A0092B-C50C-407E-A947-70E740481C1C}">
                <a14:useLocalDpi xmlns:a14="http://schemas.microsoft.com/office/drawing/2010/main" val="0"/>
              </a:ext>
            </a:extLst>
          </a:blip>
          <a:srcRect/>
          <a:stretch>
            <a:fillRect/>
          </a:stretch>
        </p:blipFill>
        <p:spPr>
          <a:xfrm>
            <a:off x="152400" y="280794"/>
            <a:ext cx="1447800" cy="914400"/>
          </a:xfrm>
          <a:prstGeom prst="rect">
            <a:avLst/>
          </a:prstGeom>
          <a:ln/>
        </p:spPr>
      </p:pic>
      <p:sp>
        <p:nvSpPr>
          <p:cNvPr id="6" name="TextBox 5">
            <a:extLst>
              <a:ext uri="{FF2B5EF4-FFF2-40B4-BE49-F238E27FC236}">
                <a16:creationId xmlns:a16="http://schemas.microsoft.com/office/drawing/2014/main" id="{27D1888E-C1E4-7108-2B9D-CF2E781604BA}"/>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799156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5D625-AF45-BA0A-FF91-A92B52519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10FF9-D00A-D987-E366-E1C425CFA0AF}"/>
              </a:ext>
            </a:extLst>
          </p:cNvPr>
          <p:cNvSpPr>
            <a:spLocks noGrp="1"/>
          </p:cNvSpPr>
          <p:nvPr>
            <p:ph type="title"/>
          </p:nvPr>
        </p:nvSpPr>
        <p:spPr>
          <a:xfrm>
            <a:off x="457200" y="274638"/>
            <a:ext cx="8229600" cy="715962"/>
          </a:xfrm>
        </p:spPr>
        <p:txBody>
          <a:bodyPr>
            <a:normAutofit fontScale="90000"/>
          </a:bodyPr>
          <a:lstStyle/>
          <a:p>
            <a:r>
              <a:rPr lang="en-US" dirty="0"/>
              <a:t>Module Output </a:t>
            </a:r>
          </a:p>
        </p:txBody>
      </p:sp>
      <p:sp>
        <p:nvSpPr>
          <p:cNvPr id="3" name="Content Placeholder 2">
            <a:extLst>
              <a:ext uri="{FF2B5EF4-FFF2-40B4-BE49-F238E27FC236}">
                <a16:creationId xmlns:a16="http://schemas.microsoft.com/office/drawing/2014/main" id="{0470F99C-7270-B11C-3B3B-C81951334FD6}"/>
              </a:ext>
            </a:extLst>
          </p:cNvPr>
          <p:cNvSpPr>
            <a:spLocks noGrp="1"/>
          </p:cNvSpPr>
          <p:nvPr>
            <p:ph idx="1"/>
          </p:nvPr>
        </p:nvSpPr>
        <p:spPr>
          <a:xfrm>
            <a:off x="457200" y="1066800"/>
            <a:ext cx="8229600" cy="5059363"/>
          </a:xfrm>
        </p:spPr>
        <p:txBody>
          <a:bodyPr>
            <a:noAutofit/>
          </a:bodyPr>
          <a:lstStyle/>
          <a:p>
            <a:r>
              <a:rPr lang="en-IN" sz="1800" b="1" dirty="0">
                <a:effectLst/>
                <a:latin typeface="Times New Roman" panose="02020603050405020304" pitchFamily="18" charset="0"/>
                <a:ea typeface="Calibri" panose="020F0502020204030204" pitchFamily="34" charset="0"/>
              </a:rPr>
              <a:t>Gathering Info about all the malwares available</a:t>
            </a:r>
          </a:p>
          <a:p>
            <a:endParaRPr lang="en-IN" sz="1800" b="1" dirty="0">
              <a:latin typeface="Times New Roman" panose="02020603050405020304" pitchFamily="18" charset="0"/>
              <a:ea typeface="Calibri" panose="020F0502020204030204" pitchFamily="34" charset="0"/>
              <a:cs typeface="Times New Roman" pitchFamily="18" charset="0"/>
            </a:endParaRPr>
          </a:p>
          <a:p>
            <a:endParaRPr lang="en-US" sz="2000" dirty="0">
              <a:latin typeface="Times New Roman" pitchFamily="18" charset="0"/>
              <a:cs typeface="Times New Roman" pitchFamily="18" charset="0"/>
            </a:endParaRPr>
          </a:p>
        </p:txBody>
      </p:sp>
      <p:sp>
        <p:nvSpPr>
          <p:cNvPr id="5" name="Footer Placeholder 3">
            <a:extLst>
              <a:ext uri="{FF2B5EF4-FFF2-40B4-BE49-F238E27FC236}">
                <a16:creationId xmlns:a16="http://schemas.microsoft.com/office/drawing/2014/main" id="{4A55710F-6704-AE9A-B2D5-41423203F6CB}"/>
              </a:ext>
            </a:extLst>
          </p:cNvPr>
          <p:cNvSpPr>
            <a:spLocks noGrp="1"/>
          </p:cNvSpPr>
          <p:nvPr>
            <p:ph type="ftr" sz="quarter" idx="11"/>
          </p:nvPr>
        </p:nvSpPr>
        <p:spPr>
          <a:xfrm>
            <a:off x="1944329" y="6356639"/>
            <a:ext cx="7162800" cy="425450"/>
          </a:xfrm>
        </p:spPr>
        <p:txBody>
          <a:bodyPr/>
          <a:lstStyle/>
          <a:p>
            <a:r>
              <a:rPr lang="en-US" dirty="0"/>
              <a:t>DEPARTMENT OF COMPUTER SCIENCE AND ENGINEERING SPECIALIZATION IN CYBER SECURITY      SLIDE NO: 17</a:t>
            </a:r>
          </a:p>
        </p:txBody>
      </p:sp>
      <p:pic>
        <p:nvPicPr>
          <p:cNvPr id="13" name="Content Placeholder 3">
            <a:extLst>
              <a:ext uri="{FF2B5EF4-FFF2-40B4-BE49-F238E27FC236}">
                <a16:creationId xmlns:a16="http://schemas.microsoft.com/office/drawing/2014/main" id="{ED0724CB-E081-7972-32C0-8B796B7D4243}"/>
              </a:ext>
            </a:extLst>
          </p:cNvPr>
          <p:cNvPicPr>
            <a:picLocks noChangeAspect="1"/>
          </p:cNvPicPr>
          <p:nvPr/>
        </p:nvPicPr>
        <p:blipFill>
          <a:blip r:embed="rId2"/>
          <a:stretch>
            <a:fillRect/>
          </a:stretch>
        </p:blipFill>
        <p:spPr>
          <a:xfrm>
            <a:off x="2743200" y="1510001"/>
            <a:ext cx="3284505" cy="4709568"/>
          </a:xfrm>
          <a:prstGeom prst="rect">
            <a:avLst/>
          </a:prstGeom>
        </p:spPr>
      </p:pic>
      <p:pic>
        <p:nvPicPr>
          <p:cNvPr id="4" name="image1.png">
            <a:extLst>
              <a:ext uri="{FF2B5EF4-FFF2-40B4-BE49-F238E27FC236}">
                <a16:creationId xmlns:a16="http://schemas.microsoft.com/office/drawing/2014/main" id="{4AF07DC8-C731-0560-B13A-6915CFA801A7}"/>
              </a:ext>
            </a:extLst>
          </p:cNvPr>
          <p:cNvPicPr/>
          <p:nvPr/>
        </p:nvPicPr>
        <p:blipFill>
          <a:blip r:embed="rId3">
            <a:extLst>
              <a:ext uri="{28A0092B-C50C-407E-A947-70E740481C1C}">
                <a14:useLocalDpi xmlns:a14="http://schemas.microsoft.com/office/drawing/2010/main" val="0"/>
              </a:ext>
            </a:extLst>
          </a:blip>
          <a:srcRect/>
          <a:stretch>
            <a:fillRect/>
          </a:stretch>
        </p:blipFill>
        <p:spPr>
          <a:xfrm>
            <a:off x="228600" y="152400"/>
            <a:ext cx="1447800" cy="914400"/>
          </a:xfrm>
          <a:prstGeom prst="rect">
            <a:avLst/>
          </a:prstGeom>
          <a:ln/>
        </p:spPr>
      </p:pic>
      <p:sp>
        <p:nvSpPr>
          <p:cNvPr id="6" name="TextBox 5">
            <a:extLst>
              <a:ext uri="{FF2B5EF4-FFF2-40B4-BE49-F238E27FC236}">
                <a16:creationId xmlns:a16="http://schemas.microsoft.com/office/drawing/2014/main" id="{30E7F041-1C31-4916-49E0-195C90F0DB3A}"/>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3525273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FE25C-7AA8-4EB9-7AE3-0CCB83334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5EC064-B75A-2A4B-F925-95BEA65B12C1}"/>
              </a:ext>
            </a:extLst>
          </p:cNvPr>
          <p:cNvSpPr>
            <a:spLocks noGrp="1"/>
          </p:cNvSpPr>
          <p:nvPr>
            <p:ph type="title"/>
          </p:nvPr>
        </p:nvSpPr>
        <p:spPr>
          <a:xfrm>
            <a:off x="457200" y="274638"/>
            <a:ext cx="8229600" cy="715962"/>
          </a:xfrm>
        </p:spPr>
        <p:txBody>
          <a:bodyPr>
            <a:normAutofit fontScale="90000"/>
          </a:bodyPr>
          <a:lstStyle/>
          <a:p>
            <a:r>
              <a:rPr lang="en-US" dirty="0"/>
              <a:t>Module Output </a:t>
            </a:r>
          </a:p>
        </p:txBody>
      </p:sp>
      <p:sp>
        <p:nvSpPr>
          <p:cNvPr id="5" name="Footer Placeholder 3">
            <a:extLst>
              <a:ext uri="{FF2B5EF4-FFF2-40B4-BE49-F238E27FC236}">
                <a16:creationId xmlns:a16="http://schemas.microsoft.com/office/drawing/2014/main" id="{13A7FBE5-6A4F-38B4-C045-E4884C6D6E37}"/>
              </a:ext>
            </a:extLst>
          </p:cNvPr>
          <p:cNvSpPr>
            <a:spLocks noGrp="1"/>
          </p:cNvSpPr>
          <p:nvPr>
            <p:ph type="ftr" sz="quarter" idx="11"/>
          </p:nvPr>
        </p:nvSpPr>
        <p:spPr>
          <a:xfrm>
            <a:off x="1981200" y="6362700"/>
            <a:ext cx="7086600" cy="425450"/>
          </a:xfrm>
        </p:spPr>
        <p:txBody>
          <a:bodyPr/>
          <a:lstStyle/>
          <a:p>
            <a:r>
              <a:rPr lang="en-US" dirty="0"/>
              <a:t>DEPARTMENT OF COMPUTER SCIENCE AND ENGINEERING SPECIALIZATION IN CYBER SECURITY      SLIDE NO: 18</a:t>
            </a:r>
          </a:p>
        </p:txBody>
      </p:sp>
      <p:sp>
        <p:nvSpPr>
          <p:cNvPr id="7" name="Content Placeholder 6">
            <a:extLst>
              <a:ext uri="{FF2B5EF4-FFF2-40B4-BE49-F238E27FC236}">
                <a16:creationId xmlns:a16="http://schemas.microsoft.com/office/drawing/2014/main" id="{DAA7FB20-D753-735A-B8A4-B11D867A5469}"/>
              </a:ext>
            </a:extLst>
          </p:cNvPr>
          <p:cNvSpPr>
            <a:spLocks noGrp="1"/>
          </p:cNvSpPr>
          <p:nvPr>
            <p:ph idx="1"/>
          </p:nvPr>
        </p:nvSpPr>
        <p:spPr/>
        <p:txBody>
          <a:bodyPr/>
          <a:lstStyle/>
          <a:p>
            <a:r>
              <a:rPr lang="en-IN" sz="1800" b="1" dirty="0" err="1">
                <a:effectLst/>
                <a:latin typeface="Times New Roman" panose="02020603050405020304" pitchFamily="18" charset="0"/>
                <a:ea typeface="Calibri" panose="020F0502020204030204" pitchFamily="34" charset="0"/>
              </a:rPr>
              <a:t>Analyzing</a:t>
            </a:r>
            <a:r>
              <a:rPr lang="en-IN" sz="1800" b="1" dirty="0">
                <a:effectLst/>
                <a:latin typeface="Times New Roman" panose="02020603050405020304" pitchFamily="18" charset="0"/>
                <a:ea typeface="Calibri" panose="020F0502020204030204" pitchFamily="34" charset="0"/>
              </a:rPr>
              <a:t> the steps of the attack</a:t>
            </a:r>
          </a:p>
          <a:p>
            <a:pPr marL="0" indent="0">
              <a:buNone/>
            </a:pPr>
            <a:r>
              <a:rPr lang="en-IN" sz="1800" b="1" dirty="0">
                <a:effectLst/>
                <a:latin typeface="Times New Roman" panose="02020603050405020304" pitchFamily="18" charset="0"/>
                <a:ea typeface="Calibri" panose="020F0502020204030204" pitchFamily="34" charset="0"/>
              </a:rPr>
              <a:t> </a:t>
            </a:r>
            <a:endParaRPr lang="en-US" b="1" dirty="0"/>
          </a:p>
        </p:txBody>
      </p:sp>
      <p:pic>
        <p:nvPicPr>
          <p:cNvPr id="8" name="Picture 7">
            <a:extLst>
              <a:ext uri="{FF2B5EF4-FFF2-40B4-BE49-F238E27FC236}">
                <a16:creationId xmlns:a16="http://schemas.microsoft.com/office/drawing/2014/main" id="{2B84716E-E871-1156-9ABF-59CEB816F16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2171700"/>
            <a:ext cx="4190999" cy="3619500"/>
          </a:xfrm>
          <a:prstGeom prst="rect">
            <a:avLst/>
          </a:prstGeom>
          <a:noFill/>
          <a:ln>
            <a:noFill/>
          </a:ln>
        </p:spPr>
      </p:pic>
      <p:pic>
        <p:nvPicPr>
          <p:cNvPr id="3" name="image1.png">
            <a:extLst>
              <a:ext uri="{FF2B5EF4-FFF2-40B4-BE49-F238E27FC236}">
                <a16:creationId xmlns:a16="http://schemas.microsoft.com/office/drawing/2014/main" id="{974DB92C-E4A6-8F07-EF40-54547C43DE2D}"/>
              </a:ext>
            </a:extLst>
          </p:cNvPr>
          <p:cNvPicPr/>
          <p:nvPr/>
        </p:nvPicPr>
        <p:blipFill>
          <a:blip r:embed="rId3">
            <a:extLst>
              <a:ext uri="{28A0092B-C50C-407E-A947-70E740481C1C}">
                <a14:useLocalDpi xmlns:a14="http://schemas.microsoft.com/office/drawing/2010/main" val="0"/>
              </a:ext>
            </a:extLst>
          </a:blip>
          <a:srcRect/>
          <a:stretch>
            <a:fillRect/>
          </a:stretch>
        </p:blipFill>
        <p:spPr>
          <a:xfrm>
            <a:off x="228600" y="175419"/>
            <a:ext cx="1447800" cy="914400"/>
          </a:xfrm>
          <a:prstGeom prst="rect">
            <a:avLst/>
          </a:prstGeom>
          <a:ln/>
        </p:spPr>
      </p:pic>
      <p:sp>
        <p:nvSpPr>
          <p:cNvPr id="4" name="TextBox 3">
            <a:extLst>
              <a:ext uri="{FF2B5EF4-FFF2-40B4-BE49-F238E27FC236}">
                <a16:creationId xmlns:a16="http://schemas.microsoft.com/office/drawing/2014/main" id="{00016CD8-D37D-D4F1-0F1E-E5790FCE9237}"/>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1523337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8E674-9A87-672D-F203-6179F9FC09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8DE90-1760-7148-55E2-FA095E8BD8F1}"/>
              </a:ext>
            </a:extLst>
          </p:cNvPr>
          <p:cNvSpPr>
            <a:spLocks noGrp="1"/>
          </p:cNvSpPr>
          <p:nvPr>
            <p:ph type="title"/>
          </p:nvPr>
        </p:nvSpPr>
        <p:spPr>
          <a:xfrm>
            <a:off x="457200" y="274638"/>
            <a:ext cx="8229600" cy="715962"/>
          </a:xfrm>
        </p:spPr>
        <p:txBody>
          <a:bodyPr>
            <a:normAutofit fontScale="90000"/>
          </a:bodyPr>
          <a:lstStyle/>
          <a:p>
            <a:r>
              <a:rPr lang="en-US" dirty="0"/>
              <a:t>Module Output </a:t>
            </a:r>
          </a:p>
        </p:txBody>
      </p:sp>
      <p:sp>
        <p:nvSpPr>
          <p:cNvPr id="5" name="Footer Placeholder 3">
            <a:extLst>
              <a:ext uri="{FF2B5EF4-FFF2-40B4-BE49-F238E27FC236}">
                <a16:creationId xmlns:a16="http://schemas.microsoft.com/office/drawing/2014/main" id="{48EF044E-D738-A4E8-188B-85CF15480322}"/>
              </a:ext>
            </a:extLst>
          </p:cNvPr>
          <p:cNvSpPr>
            <a:spLocks noGrp="1"/>
          </p:cNvSpPr>
          <p:nvPr>
            <p:ph type="ftr" sz="quarter" idx="11"/>
          </p:nvPr>
        </p:nvSpPr>
        <p:spPr>
          <a:xfrm>
            <a:off x="1978742" y="6358812"/>
            <a:ext cx="7162800" cy="425450"/>
          </a:xfrm>
        </p:spPr>
        <p:txBody>
          <a:bodyPr/>
          <a:lstStyle/>
          <a:p>
            <a:r>
              <a:rPr lang="en-US" dirty="0"/>
              <a:t>DEPARTMENT OF COMPUTER SCIENCE AND ENGINEERING SPECIALIZATION IN CYBER SECURITY      SLIDE NO: 19</a:t>
            </a:r>
          </a:p>
        </p:txBody>
      </p:sp>
      <p:sp>
        <p:nvSpPr>
          <p:cNvPr id="7" name="Content Placeholder 6">
            <a:extLst>
              <a:ext uri="{FF2B5EF4-FFF2-40B4-BE49-F238E27FC236}">
                <a16:creationId xmlns:a16="http://schemas.microsoft.com/office/drawing/2014/main" id="{7832C115-63D3-3284-2527-5735EF7AF5B9}"/>
              </a:ext>
            </a:extLst>
          </p:cNvPr>
          <p:cNvSpPr>
            <a:spLocks noGrp="1"/>
          </p:cNvSpPr>
          <p:nvPr>
            <p:ph idx="1"/>
          </p:nvPr>
        </p:nvSpPr>
        <p:spPr/>
        <p:txBody>
          <a:bodyPr/>
          <a:lstStyle/>
          <a:p>
            <a:r>
              <a:rPr lang="en-IN" sz="1800" b="1" dirty="0"/>
              <a:t>Resource analysis</a:t>
            </a:r>
            <a:endParaRPr lang="en-IN" sz="1800" b="1" i="1" dirty="0"/>
          </a:p>
          <a:p>
            <a:pPr marL="0" indent="0">
              <a:buNone/>
            </a:pPr>
            <a:endParaRPr lang="en-IN" sz="1500" b="1" i="1" dirty="0"/>
          </a:p>
          <a:p>
            <a:pPr marL="0" indent="0">
              <a:buNone/>
            </a:pPr>
            <a:endParaRPr lang="en-IN" sz="1500" b="1" dirty="0"/>
          </a:p>
          <a:p>
            <a:endParaRPr lang="en-US" dirty="0"/>
          </a:p>
        </p:txBody>
      </p:sp>
      <p:pic>
        <p:nvPicPr>
          <p:cNvPr id="3" name="image1.png">
            <a:extLst>
              <a:ext uri="{FF2B5EF4-FFF2-40B4-BE49-F238E27FC236}">
                <a16:creationId xmlns:a16="http://schemas.microsoft.com/office/drawing/2014/main" id="{C9742B29-A945-807C-5718-3975FF1A74F7}"/>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46314" y="240426"/>
            <a:ext cx="1447800" cy="914400"/>
          </a:xfrm>
          <a:prstGeom prst="rect">
            <a:avLst/>
          </a:prstGeom>
          <a:ln/>
        </p:spPr>
      </p:pic>
      <p:sp>
        <p:nvSpPr>
          <p:cNvPr id="4" name="TextBox 3">
            <a:extLst>
              <a:ext uri="{FF2B5EF4-FFF2-40B4-BE49-F238E27FC236}">
                <a16:creationId xmlns:a16="http://schemas.microsoft.com/office/drawing/2014/main" id="{E2572F4F-BF69-1CEC-9B7D-20EFC624FF99}"/>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pic>
        <p:nvPicPr>
          <p:cNvPr id="11" name="Picture 10">
            <a:extLst>
              <a:ext uri="{FF2B5EF4-FFF2-40B4-BE49-F238E27FC236}">
                <a16:creationId xmlns:a16="http://schemas.microsoft.com/office/drawing/2014/main" id="{698ACEA9-8F90-2DF6-EF31-831211B0CC0F}"/>
              </a:ext>
            </a:extLst>
          </p:cNvPr>
          <p:cNvPicPr>
            <a:picLocks noChangeAspect="1"/>
          </p:cNvPicPr>
          <p:nvPr/>
        </p:nvPicPr>
        <p:blipFill>
          <a:blip r:embed="rId3"/>
          <a:stretch>
            <a:fillRect/>
          </a:stretch>
        </p:blipFill>
        <p:spPr>
          <a:xfrm>
            <a:off x="1713921" y="2057400"/>
            <a:ext cx="5716157" cy="3895725"/>
          </a:xfrm>
          <a:prstGeom prst="rect">
            <a:avLst/>
          </a:prstGeom>
        </p:spPr>
      </p:pic>
    </p:spTree>
    <p:extLst>
      <p:ext uri="{BB962C8B-B14F-4D97-AF65-F5344CB8AC3E}">
        <p14:creationId xmlns:p14="http://schemas.microsoft.com/office/powerpoint/2010/main" val="1201653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98708-971E-742E-A979-FAEC3205A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0A24A2-4E73-4E1C-8A3D-A672E74FEA24}"/>
              </a:ext>
            </a:extLst>
          </p:cNvPr>
          <p:cNvSpPr>
            <a:spLocks noGrp="1"/>
          </p:cNvSpPr>
          <p:nvPr>
            <p:ph type="title"/>
          </p:nvPr>
        </p:nvSpPr>
        <p:spPr>
          <a:xfrm>
            <a:off x="457200" y="274638"/>
            <a:ext cx="8229600" cy="715962"/>
          </a:xfrm>
        </p:spPr>
        <p:txBody>
          <a:bodyPr>
            <a:normAutofit fontScale="90000"/>
          </a:bodyPr>
          <a:lstStyle/>
          <a:p>
            <a:r>
              <a:rPr lang="en-US" dirty="0"/>
              <a:t>Module Output </a:t>
            </a:r>
          </a:p>
        </p:txBody>
      </p:sp>
      <p:sp>
        <p:nvSpPr>
          <p:cNvPr id="5" name="Footer Placeholder 3">
            <a:extLst>
              <a:ext uri="{FF2B5EF4-FFF2-40B4-BE49-F238E27FC236}">
                <a16:creationId xmlns:a16="http://schemas.microsoft.com/office/drawing/2014/main" id="{59E456E5-D5F3-0BBF-327B-A115F0C99D3B}"/>
              </a:ext>
            </a:extLst>
          </p:cNvPr>
          <p:cNvSpPr>
            <a:spLocks noGrp="1"/>
          </p:cNvSpPr>
          <p:nvPr>
            <p:ph type="ftr" sz="quarter" idx="11"/>
          </p:nvPr>
        </p:nvSpPr>
        <p:spPr>
          <a:xfrm>
            <a:off x="1978742" y="6358812"/>
            <a:ext cx="7162800" cy="425450"/>
          </a:xfrm>
        </p:spPr>
        <p:txBody>
          <a:bodyPr/>
          <a:lstStyle/>
          <a:p>
            <a:r>
              <a:rPr lang="en-US" dirty="0"/>
              <a:t>DEPARTMENT OF COMPUTER SCIENCE AND ENGINEERING SPECIALIZATION IN CYBER SECURITY      SLIDE NO: 19</a:t>
            </a:r>
          </a:p>
        </p:txBody>
      </p:sp>
      <p:sp>
        <p:nvSpPr>
          <p:cNvPr id="7" name="Content Placeholder 6">
            <a:extLst>
              <a:ext uri="{FF2B5EF4-FFF2-40B4-BE49-F238E27FC236}">
                <a16:creationId xmlns:a16="http://schemas.microsoft.com/office/drawing/2014/main" id="{3801ACE0-44B0-0A96-7F87-7FB82BE5254D}"/>
              </a:ext>
            </a:extLst>
          </p:cNvPr>
          <p:cNvSpPr>
            <a:spLocks noGrp="1"/>
          </p:cNvSpPr>
          <p:nvPr>
            <p:ph idx="1"/>
          </p:nvPr>
        </p:nvSpPr>
        <p:spPr/>
        <p:txBody>
          <a:bodyPr>
            <a:normAutofit/>
          </a:bodyPr>
          <a:lstStyle/>
          <a:p>
            <a:r>
              <a:rPr lang="en-IN" sz="1800" b="1" dirty="0"/>
              <a:t>Programming language detection</a:t>
            </a:r>
            <a:r>
              <a:rPr lang="en-US" sz="1800" i="1" dirty="0"/>
              <a:t>.</a:t>
            </a:r>
            <a:endParaRPr lang="en-IN" sz="1800" b="1" dirty="0"/>
          </a:p>
        </p:txBody>
      </p:sp>
      <p:pic>
        <p:nvPicPr>
          <p:cNvPr id="3" name="image1.png">
            <a:extLst>
              <a:ext uri="{FF2B5EF4-FFF2-40B4-BE49-F238E27FC236}">
                <a16:creationId xmlns:a16="http://schemas.microsoft.com/office/drawing/2014/main" id="{FD88052A-03A2-E7ED-4A16-C46EC9B016E2}"/>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46314" y="240426"/>
            <a:ext cx="1447800" cy="914400"/>
          </a:xfrm>
          <a:prstGeom prst="rect">
            <a:avLst/>
          </a:prstGeom>
          <a:ln/>
        </p:spPr>
      </p:pic>
      <p:sp>
        <p:nvSpPr>
          <p:cNvPr id="4" name="TextBox 3">
            <a:extLst>
              <a:ext uri="{FF2B5EF4-FFF2-40B4-BE49-F238E27FC236}">
                <a16:creationId xmlns:a16="http://schemas.microsoft.com/office/drawing/2014/main" id="{B22B5628-05C2-3DB9-F7BD-43BE4A185289}"/>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pic>
        <p:nvPicPr>
          <p:cNvPr id="9" name="Picture 8">
            <a:extLst>
              <a:ext uri="{FF2B5EF4-FFF2-40B4-BE49-F238E27FC236}">
                <a16:creationId xmlns:a16="http://schemas.microsoft.com/office/drawing/2014/main" id="{66F82272-4E64-5104-C911-865EB570DDE8}"/>
              </a:ext>
            </a:extLst>
          </p:cNvPr>
          <p:cNvPicPr>
            <a:picLocks noChangeAspect="1"/>
          </p:cNvPicPr>
          <p:nvPr/>
        </p:nvPicPr>
        <p:blipFill>
          <a:blip r:embed="rId3"/>
          <a:stretch>
            <a:fillRect/>
          </a:stretch>
        </p:blipFill>
        <p:spPr>
          <a:xfrm>
            <a:off x="838200" y="2336291"/>
            <a:ext cx="7629525" cy="3057525"/>
          </a:xfrm>
          <a:prstGeom prst="rect">
            <a:avLst/>
          </a:prstGeom>
        </p:spPr>
      </p:pic>
    </p:spTree>
    <p:extLst>
      <p:ext uri="{BB962C8B-B14F-4D97-AF65-F5344CB8AC3E}">
        <p14:creationId xmlns:p14="http://schemas.microsoft.com/office/powerpoint/2010/main" val="2607292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4EBE1-6ED3-1004-AB60-A4161D08B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66887-0D80-F529-2516-54027994A53B}"/>
              </a:ext>
            </a:extLst>
          </p:cNvPr>
          <p:cNvSpPr>
            <a:spLocks noGrp="1"/>
          </p:cNvSpPr>
          <p:nvPr>
            <p:ph type="title"/>
          </p:nvPr>
        </p:nvSpPr>
        <p:spPr>
          <a:xfrm>
            <a:off x="457200" y="274638"/>
            <a:ext cx="8229600" cy="715962"/>
          </a:xfrm>
        </p:spPr>
        <p:txBody>
          <a:bodyPr>
            <a:normAutofit fontScale="90000"/>
          </a:bodyPr>
          <a:lstStyle/>
          <a:p>
            <a:r>
              <a:rPr lang="en-US" dirty="0"/>
              <a:t>Module Output </a:t>
            </a:r>
          </a:p>
        </p:txBody>
      </p:sp>
      <p:sp>
        <p:nvSpPr>
          <p:cNvPr id="5" name="Footer Placeholder 3">
            <a:extLst>
              <a:ext uri="{FF2B5EF4-FFF2-40B4-BE49-F238E27FC236}">
                <a16:creationId xmlns:a16="http://schemas.microsoft.com/office/drawing/2014/main" id="{598D986A-81CB-A284-9ACE-CC7BC15D6A55}"/>
              </a:ext>
            </a:extLst>
          </p:cNvPr>
          <p:cNvSpPr>
            <a:spLocks noGrp="1"/>
          </p:cNvSpPr>
          <p:nvPr>
            <p:ph type="ftr" sz="quarter" idx="11"/>
          </p:nvPr>
        </p:nvSpPr>
        <p:spPr>
          <a:xfrm>
            <a:off x="1978742" y="6358812"/>
            <a:ext cx="7162800" cy="425450"/>
          </a:xfrm>
        </p:spPr>
        <p:txBody>
          <a:bodyPr/>
          <a:lstStyle/>
          <a:p>
            <a:r>
              <a:rPr lang="en-US" dirty="0"/>
              <a:t>DEPARTMENT OF COMPUTER SCIENCE AND ENGINEERING SPECIALIZATION IN CYBER SECURITY      SLIDE NO: 19</a:t>
            </a:r>
          </a:p>
        </p:txBody>
      </p:sp>
      <p:sp>
        <p:nvSpPr>
          <p:cNvPr id="7" name="Content Placeholder 6">
            <a:extLst>
              <a:ext uri="{FF2B5EF4-FFF2-40B4-BE49-F238E27FC236}">
                <a16:creationId xmlns:a16="http://schemas.microsoft.com/office/drawing/2014/main" id="{4EE80C8A-D827-10B8-3B7B-76FD0843B1CA}"/>
              </a:ext>
            </a:extLst>
          </p:cNvPr>
          <p:cNvSpPr>
            <a:spLocks noGrp="1"/>
          </p:cNvSpPr>
          <p:nvPr>
            <p:ph idx="1"/>
          </p:nvPr>
        </p:nvSpPr>
        <p:spPr/>
        <p:txBody>
          <a:bodyPr>
            <a:normAutofit/>
          </a:bodyPr>
          <a:lstStyle/>
          <a:p>
            <a:r>
              <a:rPr lang="en-IN" sz="1800" b="1" dirty="0"/>
              <a:t>File signature </a:t>
            </a:r>
            <a:r>
              <a:rPr lang="en-IN" sz="1800" b="1" dirty="0" err="1"/>
              <a:t>analyzer</a:t>
            </a:r>
            <a:endParaRPr lang="en-US" sz="1800" b="1" dirty="0"/>
          </a:p>
        </p:txBody>
      </p:sp>
      <p:pic>
        <p:nvPicPr>
          <p:cNvPr id="3" name="image1.png">
            <a:extLst>
              <a:ext uri="{FF2B5EF4-FFF2-40B4-BE49-F238E27FC236}">
                <a16:creationId xmlns:a16="http://schemas.microsoft.com/office/drawing/2014/main" id="{9FF40F3C-10D5-3D4C-169B-9B2926BFCE26}"/>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46314" y="240426"/>
            <a:ext cx="1447800" cy="914400"/>
          </a:xfrm>
          <a:prstGeom prst="rect">
            <a:avLst/>
          </a:prstGeom>
          <a:ln/>
        </p:spPr>
      </p:pic>
      <p:sp>
        <p:nvSpPr>
          <p:cNvPr id="4" name="TextBox 3">
            <a:extLst>
              <a:ext uri="{FF2B5EF4-FFF2-40B4-BE49-F238E27FC236}">
                <a16:creationId xmlns:a16="http://schemas.microsoft.com/office/drawing/2014/main" id="{BBBECB54-E60B-027D-7C5A-0EFC21FD89AF}"/>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pic>
        <p:nvPicPr>
          <p:cNvPr id="9" name="Picture 8">
            <a:extLst>
              <a:ext uri="{FF2B5EF4-FFF2-40B4-BE49-F238E27FC236}">
                <a16:creationId xmlns:a16="http://schemas.microsoft.com/office/drawing/2014/main" id="{32B6DE58-3EF8-20CE-BA88-F0AA08CD7328}"/>
              </a:ext>
            </a:extLst>
          </p:cNvPr>
          <p:cNvPicPr>
            <a:picLocks noChangeAspect="1"/>
          </p:cNvPicPr>
          <p:nvPr/>
        </p:nvPicPr>
        <p:blipFill>
          <a:blip r:embed="rId3"/>
          <a:stretch>
            <a:fillRect/>
          </a:stretch>
        </p:blipFill>
        <p:spPr>
          <a:xfrm>
            <a:off x="1502568" y="2133600"/>
            <a:ext cx="6138863" cy="3665936"/>
          </a:xfrm>
          <a:prstGeom prst="rect">
            <a:avLst/>
          </a:prstGeom>
        </p:spPr>
      </p:pic>
    </p:spTree>
    <p:extLst>
      <p:ext uri="{BB962C8B-B14F-4D97-AF65-F5344CB8AC3E}">
        <p14:creationId xmlns:p14="http://schemas.microsoft.com/office/powerpoint/2010/main" val="1729883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A14E4-A4B2-EDAB-6FEF-0981D4A48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F4267-ECE1-50C4-EF4B-DB44A2F5D2AC}"/>
              </a:ext>
            </a:extLst>
          </p:cNvPr>
          <p:cNvSpPr>
            <a:spLocks noGrp="1"/>
          </p:cNvSpPr>
          <p:nvPr>
            <p:ph type="title"/>
          </p:nvPr>
        </p:nvSpPr>
        <p:spPr>
          <a:xfrm>
            <a:off x="457200" y="274638"/>
            <a:ext cx="8229600" cy="715962"/>
          </a:xfrm>
        </p:spPr>
        <p:txBody>
          <a:bodyPr>
            <a:normAutofit fontScale="90000"/>
          </a:bodyPr>
          <a:lstStyle/>
          <a:p>
            <a:r>
              <a:rPr lang="en-US" dirty="0"/>
              <a:t>Module Output </a:t>
            </a:r>
          </a:p>
        </p:txBody>
      </p:sp>
      <p:sp>
        <p:nvSpPr>
          <p:cNvPr id="5" name="Footer Placeholder 3">
            <a:extLst>
              <a:ext uri="{FF2B5EF4-FFF2-40B4-BE49-F238E27FC236}">
                <a16:creationId xmlns:a16="http://schemas.microsoft.com/office/drawing/2014/main" id="{8F11A625-8802-914F-8892-6130D08D94BE}"/>
              </a:ext>
            </a:extLst>
          </p:cNvPr>
          <p:cNvSpPr>
            <a:spLocks noGrp="1"/>
          </p:cNvSpPr>
          <p:nvPr>
            <p:ph type="ftr" sz="quarter" idx="11"/>
          </p:nvPr>
        </p:nvSpPr>
        <p:spPr>
          <a:xfrm>
            <a:off x="1978742" y="6358812"/>
            <a:ext cx="7162800" cy="425450"/>
          </a:xfrm>
        </p:spPr>
        <p:txBody>
          <a:bodyPr/>
          <a:lstStyle/>
          <a:p>
            <a:r>
              <a:rPr lang="en-US" dirty="0"/>
              <a:t>DEPARTMENT OF COMPUTER SCIENCE AND ENGINEERING SPECIALIZATION IN CYBER SECURITY      SLIDE NO: 19</a:t>
            </a:r>
          </a:p>
        </p:txBody>
      </p:sp>
      <p:sp>
        <p:nvSpPr>
          <p:cNvPr id="7" name="Content Placeholder 6">
            <a:extLst>
              <a:ext uri="{FF2B5EF4-FFF2-40B4-BE49-F238E27FC236}">
                <a16:creationId xmlns:a16="http://schemas.microsoft.com/office/drawing/2014/main" id="{D275BF2A-5990-EE38-9A3A-76F7AEC35F27}"/>
              </a:ext>
            </a:extLst>
          </p:cNvPr>
          <p:cNvSpPr>
            <a:spLocks noGrp="1"/>
          </p:cNvSpPr>
          <p:nvPr>
            <p:ph idx="1"/>
          </p:nvPr>
        </p:nvSpPr>
        <p:spPr/>
        <p:txBody>
          <a:bodyPr>
            <a:normAutofit/>
          </a:bodyPr>
          <a:lstStyle/>
          <a:p>
            <a:r>
              <a:rPr lang="en-IN" sz="1800" b="1" dirty="0"/>
              <a:t>Resource analysis</a:t>
            </a:r>
            <a:endParaRPr lang="en-US" sz="1800" b="1" dirty="0"/>
          </a:p>
        </p:txBody>
      </p:sp>
      <p:pic>
        <p:nvPicPr>
          <p:cNvPr id="3" name="image1.png">
            <a:extLst>
              <a:ext uri="{FF2B5EF4-FFF2-40B4-BE49-F238E27FC236}">
                <a16:creationId xmlns:a16="http://schemas.microsoft.com/office/drawing/2014/main" id="{3B58AFE9-E606-40ED-A2E2-A00B207BA379}"/>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46314" y="240426"/>
            <a:ext cx="1447800" cy="914400"/>
          </a:xfrm>
          <a:prstGeom prst="rect">
            <a:avLst/>
          </a:prstGeom>
          <a:ln/>
        </p:spPr>
      </p:pic>
      <p:sp>
        <p:nvSpPr>
          <p:cNvPr id="4" name="TextBox 3">
            <a:extLst>
              <a:ext uri="{FF2B5EF4-FFF2-40B4-BE49-F238E27FC236}">
                <a16:creationId xmlns:a16="http://schemas.microsoft.com/office/drawing/2014/main" id="{18BCFCD7-36FD-2D77-607B-28A5A863DA21}"/>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pic>
        <p:nvPicPr>
          <p:cNvPr id="8" name="Picture 7">
            <a:extLst>
              <a:ext uri="{FF2B5EF4-FFF2-40B4-BE49-F238E27FC236}">
                <a16:creationId xmlns:a16="http://schemas.microsoft.com/office/drawing/2014/main" id="{DBEC1E37-FF13-F8E1-6CE9-3C29E23CC464}"/>
              </a:ext>
            </a:extLst>
          </p:cNvPr>
          <p:cNvPicPr>
            <a:picLocks noChangeAspect="1"/>
          </p:cNvPicPr>
          <p:nvPr/>
        </p:nvPicPr>
        <p:blipFill>
          <a:blip r:embed="rId3"/>
          <a:stretch>
            <a:fillRect/>
          </a:stretch>
        </p:blipFill>
        <p:spPr>
          <a:xfrm>
            <a:off x="1752600" y="2286000"/>
            <a:ext cx="5472113" cy="3363153"/>
          </a:xfrm>
          <a:prstGeom prst="rect">
            <a:avLst/>
          </a:prstGeom>
        </p:spPr>
      </p:pic>
    </p:spTree>
    <p:extLst>
      <p:ext uri="{BB962C8B-B14F-4D97-AF65-F5344CB8AC3E}">
        <p14:creationId xmlns:p14="http://schemas.microsoft.com/office/powerpoint/2010/main" val="2042140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60337"/>
            <a:ext cx="8229600" cy="1143000"/>
          </a:xfrm>
        </p:spPr>
        <p:txBody>
          <a:bodyPr/>
          <a:lstStyle/>
          <a:p>
            <a:r>
              <a:rPr lang="en-US" dirty="0"/>
              <a:t>RESULTS AND DISCUSSIONS</a:t>
            </a:r>
            <a:endParaRPr lang="en-IN" dirty="0"/>
          </a:p>
        </p:txBody>
      </p:sp>
      <p:sp>
        <p:nvSpPr>
          <p:cNvPr id="3" name="Text Placeholder 2"/>
          <p:cNvSpPr>
            <a:spLocks noGrp="1"/>
          </p:cNvSpPr>
          <p:nvPr>
            <p:ph type="body" idx="1"/>
          </p:nvPr>
        </p:nvSpPr>
        <p:spPr/>
        <p:txBody>
          <a:bodyPr>
            <a:normAutofit fontScale="77500" lnSpcReduction="20000"/>
          </a:bodyPr>
          <a:lstStyle/>
          <a:p>
            <a:pPr algn="just"/>
            <a:r>
              <a:rPr lang="en-IN" b="1" dirty="0">
                <a:latin typeface="Times New Roman" panose="02020603050405020304" pitchFamily="18" charset="0"/>
                <a:cs typeface="Times New Roman" panose="02020603050405020304" pitchFamily="18" charset="0"/>
              </a:rPr>
              <a:t>Execution Speed:</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Payload Decoder: 2.8 seconds</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PEStudio</a:t>
            </a:r>
            <a:r>
              <a:rPr lang="en-IN" dirty="0">
                <a:latin typeface="Times New Roman" panose="02020603050405020304" pitchFamily="18" charset="0"/>
                <a:cs typeface="Times New Roman" panose="02020603050405020304" pitchFamily="18" charset="0"/>
              </a:rPr>
              <a:t>: 3.5 seconds</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Binwalk</a:t>
            </a:r>
            <a:r>
              <a:rPr lang="en-IN" dirty="0">
                <a:latin typeface="Times New Roman" panose="02020603050405020304" pitchFamily="18" charset="0"/>
                <a:cs typeface="Times New Roman" panose="02020603050405020304" pitchFamily="18" charset="0"/>
              </a:rPr>
              <a:t>: 4.2 seconds</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Conclusion: Payload Decoder is the fastest due to its lightweight design and optimized scanning algorithms.</a:t>
            </a:r>
          </a:p>
          <a:p>
            <a:pPr algn="just"/>
            <a:endParaRPr lang="en-IN"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Detection Accuracy:</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Payload Decoder: 89%</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PEStudio</a:t>
            </a:r>
            <a:r>
              <a:rPr lang="en-IN" dirty="0">
                <a:latin typeface="Times New Roman" panose="02020603050405020304" pitchFamily="18" charset="0"/>
                <a:cs typeface="Times New Roman" panose="02020603050405020304" pitchFamily="18" charset="0"/>
              </a:rPr>
              <a:t>: 92%</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Binwalk</a:t>
            </a:r>
            <a:r>
              <a:rPr lang="en-IN" dirty="0">
                <a:latin typeface="Times New Roman" panose="02020603050405020304" pitchFamily="18" charset="0"/>
                <a:cs typeface="Times New Roman" panose="02020603050405020304" pitchFamily="18" charset="0"/>
              </a:rPr>
              <a:t>: Not primarily designed for malware detection</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Conclusion: </a:t>
            </a:r>
            <a:r>
              <a:rPr lang="en-IN" dirty="0" err="1">
                <a:latin typeface="Times New Roman" panose="02020603050405020304" pitchFamily="18" charset="0"/>
                <a:cs typeface="Times New Roman" panose="02020603050405020304" pitchFamily="18" charset="0"/>
              </a:rPr>
              <a:t>PEStudio</a:t>
            </a:r>
            <a:r>
              <a:rPr lang="en-IN" dirty="0">
                <a:latin typeface="Times New Roman" panose="02020603050405020304" pitchFamily="18" charset="0"/>
                <a:cs typeface="Times New Roman" panose="02020603050405020304" pitchFamily="18" charset="0"/>
              </a:rPr>
              <a:t> has a slight edge in accuracy due to its extensive malware signature database.</a:t>
            </a:r>
          </a:p>
        </p:txBody>
      </p:sp>
      <p:sp>
        <p:nvSpPr>
          <p:cNvPr id="4" name="Footer Placeholder 3">
            <a:extLst>
              <a:ext uri="{FF2B5EF4-FFF2-40B4-BE49-F238E27FC236}">
                <a16:creationId xmlns:a16="http://schemas.microsoft.com/office/drawing/2014/main" id="{F0D7679F-16B4-DB7A-1295-18016D5CFF2B}"/>
              </a:ext>
            </a:extLst>
          </p:cNvPr>
          <p:cNvSpPr>
            <a:spLocks noGrp="1"/>
          </p:cNvSpPr>
          <p:nvPr>
            <p:ph type="ftr" sz="quarter" idx="11"/>
          </p:nvPr>
        </p:nvSpPr>
        <p:spPr>
          <a:xfrm>
            <a:off x="1981200" y="6423026"/>
            <a:ext cx="7086600" cy="425450"/>
          </a:xfrm>
        </p:spPr>
        <p:txBody>
          <a:bodyPr/>
          <a:lstStyle/>
          <a:p>
            <a:r>
              <a:rPr lang="en-US" dirty="0"/>
              <a:t>DEPARTMENT OF COMPUTER SCIENCE AND ENGINEERING SPECIALIZATION IN CYBER SECURITY      SLIDE NO: 20</a:t>
            </a:r>
          </a:p>
        </p:txBody>
      </p:sp>
      <p:pic>
        <p:nvPicPr>
          <p:cNvPr id="5" name="image1.png">
            <a:extLst>
              <a:ext uri="{FF2B5EF4-FFF2-40B4-BE49-F238E27FC236}">
                <a16:creationId xmlns:a16="http://schemas.microsoft.com/office/drawing/2014/main" id="{79720282-B2E8-EA41-2ED0-CAE1975BC6F9}"/>
              </a:ext>
            </a:extLst>
          </p:cNvPr>
          <p:cNvPicPr/>
          <p:nvPr/>
        </p:nvPicPr>
        <p:blipFill>
          <a:blip r:embed="rId2">
            <a:extLst>
              <a:ext uri="{28A0092B-C50C-407E-A947-70E740481C1C}">
                <a14:useLocalDpi xmlns:a14="http://schemas.microsoft.com/office/drawing/2010/main" val="0"/>
              </a:ext>
            </a:extLst>
          </a:blip>
          <a:srcRect/>
          <a:stretch>
            <a:fillRect/>
          </a:stretch>
        </p:blipFill>
        <p:spPr>
          <a:xfrm>
            <a:off x="304800" y="274637"/>
            <a:ext cx="1447800" cy="914400"/>
          </a:xfrm>
          <a:prstGeom prst="rect">
            <a:avLst/>
          </a:prstGeom>
          <a:ln/>
        </p:spPr>
      </p:pic>
      <p:sp>
        <p:nvSpPr>
          <p:cNvPr id="6" name="TextBox 5">
            <a:extLst>
              <a:ext uri="{FF2B5EF4-FFF2-40B4-BE49-F238E27FC236}">
                <a16:creationId xmlns:a16="http://schemas.microsoft.com/office/drawing/2014/main" id="{8233FB9E-60E9-7D64-DAE4-34F37B19514E}"/>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426180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D7813-CAF7-63BB-9841-5C0A24224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B7EE3-A36A-6A13-13F2-A98A02C352A1}"/>
              </a:ext>
            </a:extLst>
          </p:cNvPr>
          <p:cNvSpPr>
            <a:spLocks noGrp="1"/>
          </p:cNvSpPr>
          <p:nvPr>
            <p:ph type="title"/>
          </p:nvPr>
        </p:nvSpPr>
        <p:spPr>
          <a:xfrm>
            <a:off x="762000" y="160337"/>
            <a:ext cx="8229600" cy="1143000"/>
          </a:xfrm>
        </p:spPr>
        <p:txBody>
          <a:bodyPr/>
          <a:lstStyle/>
          <a:p>
            <a:r>
              <a:rPr lang="en-US" dirty="0"/>
              <a:t>RESULTS AND DISCUSSIONS</a:t>
            </a:r>
            <a:endParaRPr lang="en-IN" dirty="0"/>
          </a:p>
        </p:txBody>
      </p:sp>
      <p:sp>
        <p:nvSpPr>
          <p:cNvPr id="3" name="Text Placeholder 2">
            <a:extLst>
              <a:ext uri="{FF2B5EF4-FFF2-40B4-BE49-F238E27FC236}">
                <a16:creationId xmlns:a16="http://schemas.microsoft.com/office/drawing/2014/main" id="{912BAD97-C79E-FA60-E59A-674FD969A3C7}"/>
              </a:ext>
            </a:extLst>
          </p:cNvPr>
          <p:cNvSpPr>
            <a:spLocks noGrp="1"/>
          </p:cNvSpPr>
          <p:nvPr>
            <p:ph type="body" idx="1"/>
          </p:nvPr>
        </p:nvSpPr>
        <p:spPr/>
        <p:txBody>
          <a:bodyPr>
            <a:normAutofit fontScale="70000" lnSpcReduction="20000"/>
          </a:bodyPr>
          <a:lstStyle/>
          <a:p>
            <a:pPr algn="just"/>
            <a:r>
              <a:rPr lang="en-IN" b="1" dirty="0">
                <a:latin typeface="Times New Roman" panose="02020603050405020304" pitchFamily="18" charset="0"/>
                <a:cs typeface="Times New Roman" panose="02020603050405020304" pitchFamily="18" charset="0"/>
              </a:rPr>
              <a:t>Supported File Types:</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Payload Decoder: PE, ELF, APK, Mach-O</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PEStudio</a:t>
            </a:r>
            <a:r>
              <a:rPr lang="en-IN" dirty="0">
                <a:latin typeface="Times New Roman" panose="02020603050405020304" pitchFamily="18" charset="0"/>
                <a:cs typeface="Times New Roman" panose="02020603050405020304" pitchFamily="18" charset="0"/>
              </a:rPr>
              <a:t>: PE files only</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Binwalk</a:t>
            </a:r>
            <a:r>
              <a:rPr lang="en-IN" dirty="0">
                <a:latin typeface="Times New Roman" panose="02020603050405020304" pitchFamily="18" charset="0"/>
                <a:cs typeface="Times New Roman" panose="02020603050405020304" pitchFamily="18" charset="0"/>
              </a:rPr>
              <a:t>: Firmware and compressed files</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Conclusion: Payload Decoder supports a wider range of file formats, making it more versatile.</a:t>
            </a:r>
          </a:p>
          <a:p>
            <a:pPr algn="just"/>
            <a:endParaRPr lang="en-IN"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Analysis Type:</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Payload Decoder: Static and signature-based analysis</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PEStudio</a:t>
            </a:r>
            <a:r>
              <a:rPr lang="en-IN" dirty="0">
                <a:latin typeface="Times New Roman" panose="02020603050405020304" pitchFamily="18" charset="0"/>
                <a:cs typeface="Times New Roman" panose="02020603050405020304" pitchFamily="18" charset="0"/>
              </a:rPr>
              <a:t>: Static and signature-based analysis</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Binwalk</a:t>
            </a:r>
            <a:r>
              <a:rPr lang="en-IN" dirty="0">
                <a:latin typeface="Times New Roman" panose="02020603050405020304" pitchFamily="18" charset="0"/>
                <a:cs typeface="Times New Roman" panose="02020603050405020304" pitchFamily="18" charset="0"/>
              </a:rPr>
              <a:t>: Primarily for firmware extraction, not focused on malware detection</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Conclusion: None of the tools provide dynamic analysis, limiting their ability to detect advanced malware.</a:t>
            </a:r>
          </a:p>
        </p:txBody>
      </p:sp>
      <p:sp>
        <p:nvSpPr>
          <p:cNvPr id="4" name="Footer Placeholder 3">
            <a:extLst>
              <a:ext uri="{FF2B5EF4-FFF2-40B4-BE49-F238E27FC236}">
                <a16:creationId xmlns:a16="http://schemas.microsoft.com/office/drawing/2014/main" id="{E00BA181-888F-625B-0FEE-71EF5196E2E6}"/>
              </a:ext>
            </a:extLst>
          </p:cNvPr>
          <p:cNvSpPr>
            <a:spLocks noGrp="1"/>
          </p:cNvSpPr>
          <p:nvPr>
            <p:ph type="ftr" sz="quarter" idx="11"/>
          </p:nvPr>
        </p:nvSpPr>
        <p:spPr>
          <a:xfrm>
            <a:off x="1865671" y="6423026"/>
            <a:ext cx="7162800" cy="425450"/>
          </a:xfrm>
        </p:spPr>
        <p:txBody>
          <a:bodyPr/>
          <a:lstStyle/>
          <a:p>
            <a:r>
              <a:rPr lang="en-US" dirty="0"/>
              <a:t>DEPARTMENT OF COMPUTER SCIENCE AND ENGINEERING SPECIALIZATION IN CYBER SECURITY     SLIDE NO: 21</a:t>
            </a:r>
          </a:p>
        </p:txBody>
      </p:sp>
      <p:pic>
        <p:nvPicPr>
          <p:cNvPr id="5" name="image1.png">
            <a:extLst>
              <a:ext uri="{FF2B5EF4-FFF2-40B4-BE49-F238E27FC236}">
                <a16:creationId xmlns:a16="http://schemas.microsoft.com/office/drawing/2014/main" id="{8B547ADC-54DE-BFBB-BFF1-E5A235FC9C44}"/>
              </a:ext>
            </a:extLst>
          </p:cNvPr>
          <p:cNvPicPr/>
          <p:nvPr/>
        </p:nvPicPr>
        <p:blipFill>
          <a:blip r:embed="rId2">
            <a:extLst>
              <a:ext uri="{28A0092B-C50C-407E-A947-70E740481C1C}">
                <a14:useLocalDpi xmlns:a14="http://schemas.microsoft.com/office/drawing/2010/main" val="0"/>
              </a:ext>
            </a:extLst>
          </a:blip>
          <a:srcRect/>
          <a:stretch>
            <a:fillRect/>
          </a:stretch>
        </p:blipFill>
        <p:spPr>
          <a:xfrm>
            <a:off x="152400" y="274637"/>
            <a:ext cx="1447800" cy="914400"/>
          </a:xfrm>
          <a:prstGeom prst="rect">
            <a:avLst/>
          </a:prstGeom>
          <a:ln/>
        </p:spPr>
      </p:pic>
      <p:sp>
        <p:nvSpPr>
          <p:cNvPr id="6" name="TextBox 5">
            <a:extLst>
              <a:ext uri="{FF2B5EF4-FFF2-40B4-BE49-F238E27FC236}">
                <a16:creationId xmlns:a16="http://schemas.microsoft.com/office/drawing/2014/main" id="{53B8EC88-5568-E889-61DC-CFE7FDA2A939}"/>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1449439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82BD1-AB39-5962-7FEE-7212C21CB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A0276-572D-D9E3-1AE7-6125583E2FE0}"/>
              </a:ext>
            </a:extLst>
          </p:cNvPr>
          <p:cNvSpPr>
            <a:spLocks noGrp="1"/>
          </p:cNvSpPr>
          <p:nvPr>
            <p:ph type="title"/>
          </p:nvPr>
        </p:nvSpPr>
        <p:spPr>
          <a:xfrm>
            <a:off x="1104900" y="160337"/>
            <a:ext cx="8229600" cy="1143000"/>
          </a:xfrm>
        </p:spPr>
        <p:txBody>
          <a:bodyPr/>
          <a:lstStyle/>
          <a:p>
            <a:r>
              <a:rPr lang="en-US" dirty="0"/>
              <a:t>RESULTS AND DISCUSSIONS</a:t>
            </a:r>
            <a:endParaRPr lang="en-IN" dirty="0"/>
          </a:p>
        </p:txBody>
      </p:sp>
      <p:sp>
        <p:nvSpPr>
          <p:cNvPr id="3" name="Text Placeholder 2">
            <a:extLst>
              <a:ext uri="{FF2B5EF4-FFF2-40B4-BE49-F238E27FC236}">
                <a16:creationId xmlns:a16="http://schemas.microsoft.com/office/drawing/2014/main" id="{7487DECF-E287-355C-F962-0D950C000BCB}"/>
              </a:ext>
            </a:extLst>
          </p:cNvPr>
          <p:cNvSpPr>
            <a:spLocks noGrp="1"/>
          </p:cNvSpPr>
          <p:nvPr>
            <p:ph type="body" idx="1"/>
          </p:nvPr>
        </p:nvSpPr>
        <p:spPr/>
        <p:txBody>
          <a:bodyPr>
            <a:normAutofit fontScale="70000" lnSpcReduction="20000"/>
          </a:bodyPr>
          <a:lstStyle/>
          <a:p>
            <a:pPr algn="just"/>
            <a:r>
              <a:rPr lang="en-IN" b="1" dirty="0">
                <a:latin typeface="Times New Roman" panose="02020603050405020304" pitchFamily="18" charset="0"/>
                <a:cs typeface="Times New Roman" panose="02020603050405020304" pitchFamily="18" charset="0"/>
              </a:rPr>
              <a:t>Ease of Use:</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Payload Decoder: Command-line interface, flexible for automation</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PEStudio</a:t>
            </a:r>
            <a:r>
              <a:rPr lang="en-IN" dirty="0">
                <a:latin typeface="Times New Roman" panose="02020603050405020304" pitchFamily="18" charset="0"/>
                <a:cs typeface="Times New Roman" panose="02020603050405020304" pitchFamily="18" charset="0"/>
              </a:rPr>
              <a:t>: User-friendly GUI, beginner-friendly</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Binwalk</a:t>
            </a:r>
            <a:r>
              <a:rPr lang="en-IN" dirty="0">
                <a:latin typeface="Times New Roman" panose="02020603050405020304" pitchFamily="18" charset="0"/>
                <a:cs typeface="Times New Roman" panose="02020603050405020304" pitchFamily="18" charset="0"/>
              </a:rPr>
              <a:t>: Command-line, specialized for firmware analysis</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Conclusion: </a:t>
            </a:r>
            <a:r>
              <a:rPr lang="en-IN" dirty="0" err="1">
                <a:latin typeface="Times New Roman" panose="02020603050405020304" pitchFamily="18" charset="0"/>
                <a:cs typeface="Times New Roman" panose="02020603050405020304" pitchFamily="18" charset="0"/>
              </a:rPr>
              <a:t>PEStudio</a:t>
            </a:r>
            <a:r>
              <a:rPr lang="en-IN" dirty="0">
                <a:latin typeface="Times New Roman" panose="02020603050405020304" pitchFamily="18" charset="0"/>
                <a:cs typeface="Times New Roman" panose="02020603050405020304" pitchFamily="18" charset="0"/>
              </a:rPr>
              <a:t> is easier to use for beginners, while Payload Decoder offers more flexibility for advanced users.</a:t>
            </a:r>
          </a:p>
          <a:p>
            <a:pPr marL="0" indent="0" algn="just">
              <a:buNone/>
            </a:pP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Overall Comparison:</a:t>
            </a:r>
          </a:p>
          <a:p>
            <a:pPr marL="857250" lvl="1" indent="-4572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Payload Decoder: Best for multi-platform binary analysis with high speed and file format support.</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PEStudio</a:t>
            </a:r>
            <a:r>
              <a:rPr lang="en-IN" dirty="0">
                <a:latin typeface="Times New Roman" panose="02020603050405020304" pitchFamily="18" charset="0"/>
                <a:cs typeface="Times New Roman" panose="02020603050405020304" pitchFamily="18" charset="0"/>
              </a:rPr>
              <a:t>: Best for PE malware analysis due to higher accuracy and GUI.</a:t>
            </a:r>
          </a:p>
          <a:p>
            <a:pPr marL="857250" lvl="1" indent="-4572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Binwalk</a:t>
            </a:r>
            <a:r>
              <a:rPr lang="en-IN" dirty="0">
                <a:latin typeface="Times New Roman" panose="02020603050405020304" pitchFamily="18" charset="0"/>
                <a:cs typeface="Times New Roman" panose="02020603050405020304" pitchFamily="18" charset="0"/>
              </a:rPr>
              <a:t>: Best for firmware analysis and extraction.</a:t>
            </a:r>
          </a:p>
        </p:txBody>
      </p:sp>
      <p:sp>
        <p:nvSpPr>
          <p:cNvPr id="4" name="Footer Placeholder 3">
            <a:extLst>
              <a:ext uri="{FF2B5EF4-FFF2-40B4-BE49-F238E27FC236}">
                <a16:creationId xmlns:a16="http://schemas.microsoft.com/office/drawing/2014/main" id="{8DDFEC93-FF7D-8A90-9099-90B7361789E8}"/>
              </a:ext>
            </a:extLst>
          </p:cNvPr>
          <p:cNvSpPr>
            <a:spLocks noGrp="1"/>
          </p:cNvSpPr>
          <p:nvPr>
            <p:ph type="ftr" sz="quarter" idx="11"/>
          </p:nvPr>
        </p:nvSpPr>
        <p:spPr>
          <a:xfrm>
            <a:off x="2133600" y="6324601"/>
            <a:ext cx="7010400" cy="425450"/>
          </a:xfrm>
        </p:spPr>
        <p:txBody>
          <a:bodyPr/>
          <a:lstStyle/>
          <a:p>
            <a:r>
              <a:rPr lang="en-US" dirty="0"/>
              <a:t>DEPARTMENT OF COMPUTER SCIENCE AND ENGINEERING SPECIALIZATION IN CYBER SECURITY    SLIDE NO: 22</a:t>
            </a:r>
          </a:p>
        </p:txBody>
      </p:sp>
      <p:pic>
        <p:nvPicPr>
          <p:cNvPr id="5" name="image1.png">
            <a:extLst>
              <a:ext uri="{FF2B5EF4-FFF2-40B4-BE49-F238E27FC236}">
                <a16:creationId xmlns:a16="http://schemas.microsoft.com/office/drawing/2014/main" id="{A825DAFA-15C6-824A-A15F-139DB942942E}"/>
              </a:ext>
            </a:extLst>
          </p:cNvPr>
          <p:cNvPicPr/>
          <p:nvPr/>
        </p:nvPicPr>
        <p:blipFill>
          <a:blip r:embed="rId2">
            <a:extLst>
              <a:ext uri="{28A0092B-C50C-407E-A947-70E740481C1C}">
                <a14:useLocalDpi xmlns:a14="http://schemas.microsoft.com/office/drawing/2010/main" val="0"/>
              </a:ext>
            </a:extLst>
          </a:blip>
          <a:srcRect/>
          <a:stretch>
            <a:fillRect/>
          </a:stretch>
        </p:blipFill>
        <p:spPr>
          <a:xfrm>
            <a:off x="381000" y="274637"/>
            <a:ext cx="1447800" cy="914400"/>
          </a:xfrm>
          <a:prstGeom prst="rect">
            <a:avLst/>
          </a:prstGeom>
          <a:ln/>
        </p:spPr>
      </p:pic>
      <p:sp>
        <p:nvSpPr>
          <p:cNvPr id="6" name="TextBox 5">
            <a:extLst>
              <a:ext uri="{FF2B5EF4-FFF2-40B4-BE49-F238E27FC236}">
                <a16:creationId xmlns:a16="http://schemas.microsoft.com/office/drawing/2014/main" id="{E6BC09EF-780D-0486-A923-17E13D264368}"/>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17482038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2BD22-86F8-A697-2F8F-B6AE75F1C3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8FD18-BDEA-E3A0-AA33-FAF0E8948632}"/>
              </a:ext>
            </a:extLst>
          </p:cNvPr>
          <p:cNvSpPr>
            <a:spLocks noGrp="1"/>
          </p:cNvSpPr>
          <p:nvPr>
            <p:ph type="title"/>
          </p:nvPr>
        </p:nvSpPr>
        <p:spPr>
          <a:xfrm>
            <a:off x="990600" y="152400"/>
            <a:ext cx="8229600" cy="1143000"/>
          </a:xfrm>
        </p:spPr>
        <p:txBody>
          <a:bodyPr/>
          <a:lstStyle/>
          <a:p>
            <a:r>
              <a:rPr lang="en-US" dirty="0"/>
              <a:t>RESULTS AND DISCUSSIONS</a:t>
            </a:r>
            <a:endParaRPr lang="en-IN" dirty="0"/>
          </a:p>
        </p:txBody>
      </p:sp>
      <p:sp>
        <p:nvSpPr>
          <p:cNvPr id="4" name="Footer Placeholder 3">
            <a:extLst>
              <a:ext uri="{FF2B5EF4-FFF2-40B4-BE49-F238E27FC236}">
                <a16:creationId xmlns:a16="http://schemas.microsoft.com/office/drawing/2014/main" id="{7310C289-7608-8487-4252-C7D9CF3B6A31}"/>
              </a:ext>
            </a:extLst>
          </p:cNvPr>
          <p:cNvSpPr>
            <a:spLocks noGrp="1"/>
          </p:cNvSpPr>
          <p:nvPr>
            <p:ph type="ftr" sz="quarter" idx="11"/>
          </p:nvPr>
        </p:nvSpPr>
        <p:spPr>
          <a:xfrm>
            <a:off x="2112706" y="6415344"/>
            <a:ext cx="7048500" cy="425450"/>
          </a:xfrm>
        </p:spPr>
        <p:txBody>
          <a:bodyPr/>
          <a:lstStyle/>
          <a:p>
            <a:r>
              <a:rPr lang="en-US" dirty="0"/>
              <a:t>DEPARTMENT OF COMPUTER SCIENCE AND ENGINEERING SPECIALIZATION IN CYBER SECURITY     SLIDE NO: 22</a:t>
            </a:r>
          </a:p>
        </p:txBody>
      </p:sp>
      <p:graphicFrame>
        <p:nvGraphicFramePr>
          <p:cNvPr id="14" name="Table 13">
            <a:extLst>
              <a:ext uri="{FF2B5EF4-FFF2-40B4-BE49-F238E27FC236}">
                <a16:creationId xmlns:a16="http://schemas.microsoft.com/office/drawing/2014/main" id="{9068827C-660B-72DF-3CDC-3C3A6575D520}"/>
              </a:ext>
            </a:extLst>
          </p:cNvPr>
          <p:cNvGraphicFramePr>
            <a:graphicFrameLocks noGrp="1"/>
          </p:cNvGraphicFramePr>
          <p:nvPr>
            <p:extLst>
              <p:ext uri="{D42A27DB-BD31-4B8C-83A1-F6EECF244321}">
                <p14:modId xmlns:p14="http://schemas.microsoft.com/office/powerpoint/2010/main" val="4246298284"/>
              </p:ext>
            </p:extLst>
          </p:nvPr>
        </p:nvGraphicFramePr>
        <p:xfrm>
          <a:off x="1356360" y="1600200"/>
          <a:ext cx="6583680" cy="4297680"/>
        </p:xfrm>
        <a:graphic>
          <a:graphicData uri="http://schemas.openxmlformats.org/drawingml/2006/table">
            <a:tbl>
              <a:tblPr/>
              <a:tblGrid>
                <a:gridCol w="1645920">
                  <a:extLst>
                    <a:ext uri="{9D8B030D-6E8A-4147-A177-3AD203B41FA5}">
                      <a16:colId xmlns:a16="http://schemas.microsoft.com/office/drawing/2014/main" val="2687730722"/>
                    </a:ext>
                  </a:extLst>
                </a:gridCol>
                <a:gridCol w="1645920">
                  <a:extLst>
                    <a:ext uri="{9D8B030D-6E8A-4147-A177-3AD203B41FA5}">
                      <a16:colId xmlns:a16="http://schemas.microsoft.com/office/drawing/2014/main" val="2034539967"/>
                    </a:ext>
                  </a:extLst>
                </a:gridCol>
                <a:gridCol w="1645920">
                  <a:extLst>
                    <a:ext uri="{9D8B030D-6E8A-4147-A177-3AD203B41FA5}">
                      <a16:colId xmlns:a16="http://schemas.microsoft.com/office/drawing/2014/main" val="1871553555"/>
                    </a:ext>
                  </a:extLst>
                </a:gridCol>
                <a:gridCol w="1645920">
                  <a:extLst>
                    <a:ext uri="{9D8B030D-6E8A-4147-A177-3AD203B41FA5}">
                      <a16:colId xmlns:a16="http://schemas.microsoft.com/office/drawing/2014/main" val="863789664"/>
                    </a:ext>
                  </a:extLst>
                </a:gridCol>
              </a:tblGrid>
              <a:tr h="0">
                <a:tc>
                  <a:txBody>
                    <a:bodyPr/>
                    <a:lstStyle/>
                    <a:p>
                      <a:r>
                        <a:rPr lang="en-US" b="1" dirty="0"/>
                        <a:t>Feature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Payload Decoder</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PEStudio</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err="1"/>
                        <a:t>VirusTotal</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8128742"/>
                  </a:ext>
                </a:extLst>
              </a:tr>
              <a:tr h="0">
                <a:tc>
                  <a:txBody>
                    <a:bodyPr/>
                    <a:lstStyle/>
                    <a:p>
                      <a:r>
                        <a:rPr lang="en-US" b="1"/>
                        <a:t>Speed (Avg Analysis Time)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5 sec/file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10 sec/file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15 sec/file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6394850"/>
                  </a:ext>
                </a:extLst>
              </a:tr>
              <a:tr h="0">
                <a:tc>
                  <a:txBody>
                    <a:bodyPr/>
                    <a:lstStyle/>
                    <a:p>
                      <a:r>
                        <a:rPr lang="en-US" b="1"/>
                        <a:t>Accuracy</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94.8%</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89.2%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96.1%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9607337"/>
                  </a:ext>
                </a:extLst>
              </a:tr>
              <a:tr h="0">
                <a:tc>
                  <a:txBody>
                    <a:bodyPr/>
                    <a:lstStyle/>
                    <a:p>
                      <a:r>
                        <a:rPr lang="en-US" b="1" dirty="0"/>
                        <a:t>Platform Compatibility</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Windows, Linux, macOS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Windows 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Web-based (All)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0185404"/>
                  </a:ext>
                </a:extLst>
              </a:tr>
              <a:tr h="0">
                <a:tc>
                  <a:txBody>
                    <a:bodyPr/>
                    <a:lstStyle/>
                    <a:p>
                      <a:r>
                        <a:rPr lang="en-US" b="1"/>
                        <a:t>Offline Support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Yes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1940467"/>
                  </a:ext>
                </a:extLst>
              </a:tr>
              <a:tr h="0">
                <a:tc>
                  <a:txBody>
                    <a:bodyPr/>
                    <a:lstStyle/>
                    <a:p>
                      <a:r>
                        <a:rPr lang="en-US" b="1"/>
                        <a:t>Modularity</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Highly Modular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1439219"/>
                  </a:ext>
                </a:extLst>
              </a:tr>
              <a:tr h="0">
                <a:tc>
                  <a:txBody>
                    <a:bodyPr/>
                    <a:lstStyle/>
                    <a:p>
                      <a:r>
                        <a:rPr lang="en-US" b="1"/>
                        <a:t>Hash Verification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Integrated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5174109"/>
                  </a:ext>
                </a:extLst>
              </a:tr>
              <a:tr h="0">
                <a:tc>
                  <a:txBody>
                    <a:bodyPr/>
                    <a:lstStyle/>
                    <a:p>
                      <a:r>
                        <a:rPr lang="en-US" b="1"/>
                        <a:t>IOC Detection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Yes (YARA Rules)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024734"/>
                  </a:ext>
                </a:extLst>
              </a:tr>
            </a:tbl>
          </a:graphicData>
        </a:graphic>
      </p:graphicFrame>
      <p:pic>
        <p:nvPicPr>
          <p:cNvPr id="3" name="image1.png">
            <a:extLst>
              <a:ext uri="{FF2B5EF4-FFF2-40B4-BE49-F238E27FC236}">
                <a16:creationId xmlns:a16="http://schemas.microsoft.com/office/drawing/2014/main" id="{DDB815DA-3260-A091-6D8D-494B74C3183E}"/>
              </a:ext>
            </a:extLst>
          </p:cNvPr>
          <p:cNvPicPr/>
          <p:nvPr/>
        </p:nvPicPr>
        <p:blipFill>
          <a:blip r:embed="rId2">
            <a:extLst>
              <a:ext uri="{28A0092B-C50C-407E-A947-70E740481C1C}">
                <a14:useLocalDpi xmlns:a14="http://schemas.microsoft.com/office/drawing/2010/main" val="0"/>
              </a:ext>
            </a:extLst>
          </a:blip>
          <a:srcRect/>
          <a:stretch>
            <a:fillRect/>
          </a:stretch>
        </p:blipFill>
        <p:spPr>
          <a:xfrm>
            <a:off x="266700" y="266700"/>
            <a:ext cx="1447800" cy="914400"/>
          </a:xfrm>
          <a:prstGeom prst="rect">
            <a:avLst/>
          </a:prstGeom>
          <a:ln/>
        </p:spPr>
      </p:pic>
      <p:sp>
        <p:nvSpPr>
          <p:cNvPr id="5" name="TextBox 4">
            <a:extLst>
              <a:ext uri="{FF2B5EF4-FFF2-40B4-BE49-F238E27FC236}">
                <a16:creationId xmlns:a16="http://schemas.microsoft.com/office/drawing/2014/main" id="{0D4EB346-86FC-2FD2-D4B9-F6739F2E3F99}"/>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820808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84F8B-DDA1-33CA-9BE3-72B0408AE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34121-3913-D8E2-FB16-9AC1FAA54DF8}"/>
              </a:ext>
            </a:extLst>
          </p:cNvPr>
          <p:cNvSpPr>
            <a:spLocks noGrp="1"/>
          </p:cNvSpPr>
          <p:nvPr>
            <p:ph type="title"/>
          </p:nvPr>
        </p:nvSpPr>
        <p:spPr>
          <a:xfrm>
            <a:off x="1066800" y="152400"/>
            <a:ext cx="8229600" cy="1143000"/>
          </a:xfrm>
        </p:spPr>
        <p:txBody>
          <a:bodyPr/>
          <a:lstStyle/>
          <a:p>
            <a:r>
              <a:rPr lang="en-US" dirty="0"/>
              <a:t>RESULTS AND DISCUSSIONS</a:t>
            </a:r>
            <a:endParaRPr lang="en-IN" dirty="0"/>
          </a:p>
        </p:txBody>
      </p:sp>
      <p:sp>
        <p:nvSpPr>
          <p:cNvPr id="4" name="Footer Placeholder 3">
            <a:extLst>
              <a:ext uri="{FF2B5EF4-FFF2-40B4-BE49-F238E27FC236}">
                <a16:creationId xmlns:a16="http://schemas.microsoft.com/office/drawing/2014/main" id="{313C0227-8463-9F3B-8951-D14114BE523F}"/>
              </a:ext>
            </a:extLst>
          </p:cNvPr>
          <p:cNvSpPr>
            <a:spLocks noGrp="1"/>
          </p:cNvSpPr>
          <p:nvPr>
            <p:ph type="ftr" sz="quarter" idx="11"/>
          </p:nvPr>
        </p:nvSpPr>
        <p:spPr>
          <a:xfrm>
            <a:off x="2057400" y="6299815"/>
            <a:ext cx="7086600" cy="425450"/>
          </a:xfrm>
        </p:spPr>
        <p:txBody>
          <a:bodyPr/>
          <a:lstStyle/>
          <a:p>
            <a:r>
              <a:rPr lang="en-US" dirty="0"/>
              <a:t>DEPARTMENT OF COMPUTER SCIENCE AND ENGINEERING SPECIALIZATION IN CYBER SECURITY      SLIDE NO: 22</a:t>
            </a:r>
          </a:p>
        </p:txBody>
      </p:sp>
      <p:pic>
        <p:nvPicPr>
          <p:cNvPr id="3" name="image1.png">
            <a:extLst>
              <a:ext uri="{FF2B5EF4-FFF2-40B4-BE49-F238E27FC236}">
                <a16:creationId xmlns:a16="http://schemas.microsoft.com/office/drawing/2014/main" id="{7BD296AB-1598-1315-1EB2-154C4565CBAC}"/>
              </a:ext>
            </a:extLst>
          </p:cNvPr>
          <p:cNvPicPr/>
          <p:nvPr/>
        </p:nvPicPr>
        <p:blipFill>
          <a:blip r:embed="rId2">
            <a:extLst>
              <a:ext uri="{28A0092B-C50C-407E-A947-70E740481C1C}">
                <a14:useLocalDpi xmlns:a14="http://schemas.microsoft.com/office/drawing/2010/main" val="0"/>
              </a:ext>
            </a:extLst>
          </a:blip>
          <a:srcRect/>
          <a:stretch>
            <a:fillRect/>
          </a:stretch>
        </p:blipFill>
        <p:spPr>
          <a:xfrm>
            <a:off x="342900" y="227806"/>
            <a:ext cx="1447800" cy="914400"/>
          </a:xfrm>
          <a:prstGeom prst="rect">
            <a:avLst/>
          </a:prstGeom>
          <a:ln/>
        </p:spPr>
      </p:pic>
      <p:sp>
        <p:nvSpPr>
          <p:cNvPr id="5" name="TextBox 4">
            <a:extLst>
              <a:ext uri="{FF2B5EF4-FFF2-40B4-BE49-F238E27FC236}">
                <a16:creationId xmlns:a16="http://schemas.microsoft.com/office/drawing/2014/main" id="{BD9DBEDB-FBAD-ABAF-04E3-1859ED00CB37}"/>
              </a:ext>
            </a:extLst>
          </p:cNvPr>
          <p:cNvSpPr txBox="1"/>
          <p:nvPr/>
        </p:nvSpPr>
        <p:spPr>
          <a:xfrm>
            <a:off x="-138584" y="6186989"/>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pic>
        <p:nvPicPr>
          <p:cNvPr id="8" name="Picture 7" descr="A group of bar graphs&#10;&#10;AI-generated content may be incorrect.">
            <a:extLst>
              <a:ext uri="{FF2B5EF4-FFF2-40B4-BE49-F238E27FC236}">
                <a16:creationId xmlns:a16="http://schemas.microsoft.com/office/drawing/2014/main" id="{25281064-6255-588D-4654-4633CE41ED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1958047"/>
            <a:ext cx="8228571" cy="3657143"/>
          </a:xfrm>
          <a:prstGeom prst="rect">
            <a:avLst/>
          </a:prstGeom>
        </p:spPr>
      </p:pic>
    </p:spTree>
    <p:extLst>
      <p:ext uri="{BB962C8B-B14F-4D97-AF65-F5344CB8AC3E}">
        <p14:creationId xmlns:p14="http://schemas.microsoft.com/office/powerpoint/2010/main" val="4235318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SCOPE</a:t>
            </a:r>
            <a:endParaRPr lang="en-IN" dirty="0"/>
          </a:p>
        </p:txBody>
      </p:sp>
      <p:sp>
        <p:nvSpPr>
          <p:cNvPr id="3" name="Text Placeholder 2"/>
          <p:cNvSpPr>
            <a:spLocks noGrp="1"/>
          </p:cNvSpPr>
          <p:nvPr>
            <p:ph type="body" idx="1"/>
          </p:nvPr>
        </p:nvSpPr>
        <p:spPr/>
        <p:txBody>
          <a:bodyPr>
            <a:normAutofit/>
          </a:bodyPr>
          <a:lstStyle/>
          <a:p>
            <a:r>
              <a:rPr lang="en-US" sz="1800" b="1" dirty="0">
                <a:latin typeface="Times New Roman" panose="02020603050405020304" pitchFamily="18" charset="0"/>
                <a:cs typeface="Times New Roman" panose="02020603050405020304" pitchFamily="18" charset="0"/>
              </a:rPr>
              <a:t>Integration with Dynamic Analysis: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Extending beyond static analysis by incorporating dynamic analysis techniques for behavior-based malware detection.</a:t>
            </a:r>
          </a:p>
          <a:p>
            <a:r>
              <a:rPr lang="en-US" sz="1800" b="1" dirty="0">
                <a:latin typeface="Times New Roman" panose="02020603050405020304" pitchFamily="18" charset="0"/>
                <a:cs typeface="Times New Roman" panose="02020603050405020304" pitchFamily="18" charset="0"/>
              </a:rPr>
              <a:t>Machine Learning for Advanced Threat Detection: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Implementing machine learning models for anomaly detection and zero-day malware identification to improve detection accuracy.</a:t>
            </a:r>
          </a:p>
          <a:p>
            <a:r>
              <a:rPr lang="en-US" sz="1800" b="1" dirty="0">
                <a:latin typeface="Times New Roman" panose="02020603050405020304" pitchFamily="18" charset="0"/>
                <a:cs typeface="Times New Roman" panose="02020603050405020304" pitchFamily="18" charset="0"/>
              </a:rPr>
              <a:t>Cloud Integration: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Integrating cloud-based threat intelligence services to keep the tool updated with the latest malware signatures and threat patterns.</a:t>
            </a:r>
          </a:p>
          <a:p>
            <a:r>
              <a:rPr lang="en-US" sz="1800" b="1" dirty="0">
                <a:latin typeface="Times New Roman" panose="02020603050405020304" pitchFamily="18" charset="0"/>
                <a:cs typeface="Times New Roman" panose="02020603050405020304" pitchFamily="18" charset="0"/>
              </a:rPr>
              <a:t>Multi-File Format Support: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Expanding support for a broader range of file formats beyond executables, including PDFs, documents, and archives.</a:t>
            </a:r>
          </a:p>
          <a:p>
            <a:r>
              <a:rPr lang="en-US" sz="1800" b="1" dirty="0">
                <a:latin typeface="Times New Roman" panose="02020603050405020304" pitchFamily="18" charset="0"/>
                <a:cs typeface="Times New Roman" panose="02020603050405020304" pitchFamily="18" charset="0"/>
              </a:rPr>
              <a:t>Real-time Monitoring: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Developing real-time system monitoring features for detecting ongoing attacks and alerting users immediately.</a:t>
            </a:r>
            <a:endParaRPr lang="en-IN" sz="1800" dirty="0">
              <a:latin typeface="Times New Roman" panose="02020603050405020304" pitchFamily="18" charset="0"/>
              <a:cs typeface="Times New Roman" panose="02020603050405020304" pitchFamily="18" charset="0"/>
            </a:endParaRPr>
          </a:p>
        </p:txBody>
      </p:sp>
      <p:sp>
        <p:nvSpPr>
          <p:cNvPr id="16" name="Footer Placeholder 3">
            <a:extLst>
              <a:ext uri="{FF2B5EF4-FFF2-40B4-BE49-F238E27FC236}">
                <a16:creationId xmlns:a16="http://schemas.microsoft.com/office/drawing/2014/main" id="{2B070E2C-C81E-E0D1-9F81-05E21638175A}"/>
              </a:ext>
            </a:extLst>
          </p:cNvPr>
          <p:cNvSpPr>
            <a:spLocks noGrp="1"/>
          </p:cNvSpPr>
          <p:nvPr>
            <p:ph type="ftr" sz="quarter" idx="11"/>
          </p:nvPr>
        </p:nvSpPr>
        <p:spPr>
          <a:xfrm>
            <a:off x="1905000" y="6370637"/>
            <a:ext cx="7162800" cy="425450"/>
          </a:xfrm>
        </p:spPr>
        <p:txBody>
          <a:bodyPr/>
          <a:lstStyle/>
          <a:p>
            <a:r>
              <a:rPr lang="en-US" dirty="0"/>
              <a:t>DEPARTMENT OF COMPUTER SCIENCE AND ENGINEERING SPECIALIZATION IN CYBER SECURITY       SLIDE NO: 24</a:t>
            </a:r>
          </a:p>
        </p:txBody>
      </p:sp>
      <p:pic>
        <p:nvPicPr>
          <p:cNvPr id="4" name="image1.png">
            <a:extLst>
              <a:ext uri="{FF2B5EF4-FFF2-40B4-BE49-F238E27FC236}">
                <a16:creationId xmlns:a16="http://schemas.microsoft.com/office/drawing/2014/main" id="{6620C661-D920-489C-56EF-60C49C1F237E}"/>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57200" y="388938"/>
            <a:ext cx="1447800" cy="914400"/>
          </a:xfrm>
          <a:prstGeom prst="rect">
            <a:avLst/>
          </a:prstGeom>
          <a:ln/>
        </p:spPr>
      </p:pic>
      <p:sp>
        <p:nvSpPr>
          <p:cNvPr id="5" name="TextBox 4">
            <a:extLst>
              <a:ext uri="{FF2B5EF4-FFF2-40B4-BE49-F238E27FC236}">
                <a16:creationId xmlns:a16="http://schemas.microsoft.com/office/drawing/2014/main" id="{B9DC59C5-33BA-0B38-0835-06FA5230BA16}"/>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213665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lang="en-IN" dirty="0"/>
          </a:p>
        </p:txBody>
      </p:sp>
      <p:sp>
        <p:nvSpPr>
          <p:cNvPr id="3" name="Text Placeholder 2"/>
          <p:cNvSpPr>
            <a:spLocks noGrp="1"/>
          </p:cNvSpPr>
          <p:nvPr>
            <p:ph type="body" idx="1"/>
          </p:nvPr>
        </p:nvSpPr>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The increasing frequency and complexity of cyber-attacks demand efficient tools for malware detection and analysis. </a:t>
            </a:r>
            <a:r>
              <a:rPr lang="en-US" b="1" dirty="0">
                <a:latin typeface="Times New Roman" panose="02020603050405020304" pitchFamily="18" charset="0"/>
                <a:cs typeface="Times New Roman" panose="02020603050405020304" pitchFamily="18" charset="0"/>
              </a:rPr>
              <a:t>Payload Decoder</a:t>
            </a:r>
            <a:r>
              <a:rPr lang="en-US" dirty="0">
                <a:latin typeface="Times New Roman" panose="02020603050405020304" pitchFamily="18" charset="0"/>
                <a:cs typeface="Times New Roman" panose="02020603050405020304" pitchFamily="18" charset="0"/>
              </a:rPr>
              <a:t> addresses this need by combining static analysis, metadata extraction, and Indicator of Compromise (IOC) detection in a single, lightweight, and multi-platform tool. Its modular architecture allows scalability and future integration with advanced features, providing offline analysis capabilities essential for secure environments. By simplifying the malware analysis process, this tool empowers both novice and experienced cybersecurity professionals to detect and mitigate threats more effectively. This project not only improves the speed and efficiency of malware detection but also enhances the understanding of malware behavior for educational and training purposes.</a:t>
            </a: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5E8D625-200B-096F-3B4A-616C04503245}"/>
              </a:ext>
            </a:extLst>
          </p:cNvPr>
          <p:cNvSpPr>
            <a:spLocks noGrp="1"/>
          </p:cNvSpPr>
          <p:nvPr>
            <p:ph type="ftr" sz="quarter" idx="11"/>
          </p:nvPr>
        </p:nvSpPr>
        <p:spPr>
          <a:xfrm>
            <a:off x="2057400" y="6370637"/>
            <a:ext cx="7086600" cy="425450"/>
          </a:xfrm>
        </p:spPr>
        <p:txBody>
          <a:bodyPr/>
          <a:lstStyle/>
          <a:p>
            <a:r>
              <a:rPr lang="en-US" dirty="0"/>
              <a:t>DEPARTMENT OF COMPUTER SCIENCE AND ENGINEERING SPECIALIZATION IN CYBER SECURITY      SLIDE NO: 23</a:t>
            </a:r>
          </a:p>
        </p:txBody>
      </p:sp>
      <p:pic>
        <p:nvPicPr>
          <p:cNvPr id="5" name="image1.png">
            <a:extLst>
              <a:ext uri="{FF2B5EF4-FFF2-40B4-BE49-F238E27FC236}">
                <a16:creationId xmlns:a16="http://schemas.microsoft.com/office/drawing/2014/main" id="{60F5F2FA-43DD-2913-9AA8-2ED1EB6F3016}"/>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57200" y="274638"/>
            <a:ext cx="1447800" cy="914400"/>
          </a:xfrm>
          <a:prstGeom prst="rect">
            <a:avLst/>
          </a:prstGeom>
          <a:ln/>
        </p:spPr>
      </p:pic>
      <p:sp>
        <p:nvSpPr>
          <p:cNvPr id="6" name="TextBox 5">
            <a:extLst>
              <a:ext uri="{FF2B5EF4-FFF2-40B4-BE49-F238E27FC236}">
                <a16:creationId xmlns:a16="http://schemas.microsoft.com/office/drawing/2014/main" id="{B6F1A601-7C50-2150-63D3-A11218B6FF3F}"/>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2995950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References</a:t>
            </a:r>
          </a:p>
        </p:txBody>
      </p:sp>
      <p:sp>
        <p:nvSpPr>
          <p:cNvPr id="3" name="Content Placeholder 2"/>
          <p:cNvSpPr>
            <a:spLocks noGrp="1"/>
          </p:cNvSpPr>
          <p:nvPr>
            <p:ph idx="1"/>
          </p:nvPr>
        </p:nvSpPr>
        <p:spPr>
          <a:xfrm>
            <a:off x="457200" y="1066800"/>
            <a:ext cx="8229600" cy="5059363"/>
          </a:xfrm>
        </p:spPr>
        <p:txBody>
          <a:bodyPr>
            <a:noAutofit/>
          </a:bodyPr>
          <a:lstStyle/>
          <a:p>
            <a:pPr algn="just"/>
            <a:r>
              <a:rPr lang="en-US" sz="1600" dirty="0">
                <a:latin typeface="Times New Roman" pitchFamily="18" charset="0"/>
                <a:cs typeface="Times New Roman" pitchFamily="18" charset="0"/>
              </a:rPr>
              <a:t>Mao V. Ngo, Tram Truong-Huu, Dima </a:t>
            </a:r>
            <a:r>
              <a:rPr lang="en-US" sz="1600" dirty="0" err="1">
                <a:latin typeface="Times New Roman" pitchFamily="18" charset="0"/>
                <a:cs typeface="Times New Roman" pitchFamily="18" charset="0"/>
              </a:rPr>
              <a:t>Rabadi</a:t>
            </a:r>
            <a:r>
              <a:rPr lang="en-US" sz="1600" dirty="0">
                <a:latin typeface="Times New Roman" pitchFamily="18" charset="0"/>
                <a:cs typeface="Times New Roman" pitchFamily="18" charset="0"/>
              </a:rPr>
              <a:t>, Jia Yi Loo, and Sin G. Teo, "Fast and Efficient Malware Detection with Joint Static and Dynamic Features Through Transfer Learning," </a:t>
            </a:r>
            <a:r>
              <a:rPr lang="en-US" sz="1600" dirty="0" err="1">
                <a:latin typeface="Times New Roman" pitchFamily="18" charset="0"/>
                <a:cs typeface="Times New Roman" pitchFamily="18" charset="0"/>
              </a:rPr>
              <a:t>arXiv</a:t>
            </a:r>
            <a:r>
              <a:rPr lang="en-US" sz="1600" dirty="0">
                <a:latin typeface="Times New Roman" pitchFamily="18" charset="0"/>
                <a:cs typeface="Times New Roman" pitchFamily="18" charset="0"/>
              </a:rPr>
              <a:t> preprint arXiv:2211.13860, 2022.</a:t>
            </a:r>
            <a:r>
              <a:rPr lang="en-US" sz="1050" dirty="0"/>
              <a:t> </a:t>
            </a:r>
            <a:endParaRPr lang="en-US" sz="1600" dirty="0">
              <a:latin typeface="Times New Roman" pitchFamily="18" charset="0"/>
              <a:cs typeface="Times New Roman" pitchFamily="18" charset="0"/>
            </a:endParaRP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Anusha Damodaran, Fabio Di Troia, </a:t>
            </a:r>
            <a:r>
              <a:rPr lang="en-US" sz="1600" dirty="0" err="1">
                <a:latin typeface="Times New Roman" pitchFamily="18" charset="0"/>
                <a:cs typeface="Times New Roman" pitchFamily="18" charset="0"/>
              </a:rPr>
              <a:t>Visaggio</a:t>
            </a:r>
            <a:r>
              <a:rPr lang="en-US" sz="1600" dirty="0">
                <a:latin typeface="Times New Roman" pitchFamily="18" charset="0"/>
                <a:cs typeface="Times New Roman" pitchFamily="18" charset="0"/>
              </a:rPr>
              <a:t> Aaron Corrado, Thomas H. Austin, and Mark Stamp, "A Comparison of Static, Dynamic, and Hybrid Analysis for Malware Detection," </a:t>
            </a:r>
            <a:r>
              <a:rPr lang="en-US" sz="1600" dirty="0" err="1">
                <a:latin typeface="Times New Roman" pitchFamily="18" charset="0"/>
                <a:cs typeface="Times New Roman" pitchFamily="18" charset="0"/>
              </a:rPr>
              <a:t>arXiv</a:t>
            </a:r>
            <a:r>
              <a:rPr lang="en-US" sz="1600" dirty="0">
                <a:latin typeface="Times New Roman" pitchFamily="18" charset="0"/>
                <a:cs typeface="Times New Roman" pitchFamily="18" charset="0"/>
              </a:rPr>
              <a:t> preprint arXiv:2203.09938, March 2022.</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Bitdefender Research Team, "The Differences Between Static and Dynamic Malware Analysis," Bitdefender Business Insights Blog, 2023.</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Aqua Security Research Team, "Malware Analysis: Static vs. Dynamic and 4 Critical Best Practices," Aqua Security Blog, 2023.</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Richard Ford, Eric Cole, and Mark Russinovich, "The Top 10 Malware Analysis Tools," Expert Insights Conference on Cybersecurity Trends, 2023.</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S. </a:t>
            </a:r>
            <a:r>
              <a:rPr lang="en-US" sz="1600" dirty="0" err="1">
                <a:latin typeface="Times New Roman" pitchFamily="18" charset="0"/>
                <a:cs typeface="Times New Roman" pitchFamily="18" charset="0"/>
              </a:rPr>
              <a:t>Khemani</a:t>
            </a:r>
            <a:r>
              <a:rPr lang="en-US" sz="1600" dirty="0">
                <a:latin typeface="Times New Roman" pitchFamily="18" charset="0"/>
                <a:cs typeface="Times New Roman" pitchFamily="18" charset="0"/>
              </a:rPr>
              <a:t>, D. Jain, and G. Prasad, "Static Malware Analysis vs Dynamic Malware Analysis," </a:t>
            </a:r>
            <a:r>
              <a:rPr lang="en-US" sz="1600" dirty="0" err="1">
                <a:latin typeface="Times New Roman" pitchFamily="18" charset="0"/>
                <a:cs typeface="Times New Roman" pitchFamily="18" charset="0"/>
              </a:rPr>
              <a:t>Malwation</a:t>
            </a:r>
            <a:r>
              <a:rPr lang="en-US" sz="1600" dirty="0">
                <a:latin typeface="Times New Roman" pitchFamily="18" charset="0"/>
                <a:cs typeface="Times New Roman" pitchFamily="18" charset="0"/>
              </a:rPr>
              <a:t> Blog – International Conference on Malware Research (ICMR), 2023.</a:t>
            </a:r>
          </a:p>
        </p:txBody>
      </p:sp>
      <p:sp>
        <p:nvSpPr>
          <p:cNvPr id="5" name="Footer Placeholder 3">
            <a:extLst>
              <a:ext uri="{FF2B5EF4-FFF2-40B4-BE49-F238E27FC236}">
                <a16:creationId xmlns:a16="http://schemas.microsoft.com/office/drawing/2014/main" id="{085D2BDD-68D6-4DD9-1446-102D6B169EFF}"/>
              </a:ext>
            </a:extLst>
          </p:cNvPr>
          <p:cNvSpPr>
            <a:spLocks noGrp="1"/>
          </p:cNvSpPr>
          <p:nvPr>
            <p:ph type="ftr" sz="quarter" idx="11"/>
          </p:nvPr>
        </p:nvSpPr>
        <p:spPr>
          <a:xfrm>
            <a:off x="2133600" y="6370637"/>
            <a:ext cx="7010400" cy="425450"/>
          </a:xfrm>
        </p:spPr>
        <p:txBody>
          <a:bodyPr/>
          <a:lstStyle/>
          <a:p>
            <a:r>
              <a:rPr lang="en-US" dirty="0"/>
              <a:t>DEPARTMENT OF COMPUTER SCIENCE AND ENGINEERING SPECIALIZATION IN CYBER SECURITY     SLIDE NO:25</a:t>
            </a:r>
          </a:p>
        </p:txBody>
      </p:sp>
      <p:pic>
        <p:nvPicPr>
          <p:cNvPr id="4" name="image1.png">
            <a:extLst>
              <a:ext uri="{FF2B5EF4-FFF2-40B4-BE49-F238E27FC236}">
                <a16:creationId xmlns:a16="http://schemas.microsoft.com/office/drawing/2014/main" id="{801D4E6B-E6F6-D53F-47EA-81D934C091F4}"/>
              </a:ext>
            </a:extLst>
          </p:cNvPr>
          <p:cNvPicPr/>
          <p:nvPr/>
        </p:nvPicPr>
        <p:blipFill>
          <a:blip r:embed="rId2">
            <a:extLst>
              <a:ext uri="{28A0092B-C50C-407E-A947-70E740481C1C}">
                <a14:useLocalDpi xmlns:a14="http://schemas.microsoft.com/office/drawing/2010/main" val="0"/>
              </a:ext>
            </a:extLst>
          </a:blip>
          <a:srcRect/>
          <a:stretch>
            <a:fillRect/>
          </a:stretch>
        </p:blipFill>
        <p:spPr>
          <a:xfrm>
            <a:off x="381000" y="114300"/>
            <a:ext cx="1447800" cy="914400"/>
          </a:xfrm>
          <a:prstGeom prst="rect">
            <a:avLst/>
          </a:prstGeom>
          <a:ln/>
        </p:spPr>
      </p:pic>
      <p:sp>
        <p:nvSpPr>
          <p:cNvPr id="6" name="TextBox 5">
            <a:extLst>
              <a:ext uri="{FF2B5EF4-FFF2-40B4-BE49-F238E27FC236}">
                <a16:creationId xmlns:a16="http://schemas.microsoft.com/office/drawing/2014/main" id="{5A201987-8FDE-6B70-FE34-0092EEE0A859}"/>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1586818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8227-467C-B087-1E4D-921B20F14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8D729-2645-20CB-21C4-953220C82314}"/>
              </a:ext>
            </a:extLst>
          </p:cNvPr>
          <p:cNvSpPr>
            <a:spLocks noGrp="1"/>
          </p:cNvSpPr>
          <p:nvPr>
            <p:ph type="title"/>
          </p:nvPr>
        </p:nvSpPr>
        <p:spPr>
          <a:xfrm>
            <a:off x="457200" y="274638"/>
            <a:ext cx="8229600" cy="715962"/>
          </a:xfrm>
        </p:spPr>
        <p:txBody>
          <a:bodyPr>
            <a:normAutofit fontScale="90000"/>
          </a:bodyPr>
          <a:lstStyle/>
          <a:p>
            <a:r>
              <a:rPr lang="en-US" dirty="0"/>
              <a:t>References</a:t>
            </a:r>
          </a:p>
        </p:txBody>
      </p:sp>
      <p:sp>
        <p:nvSpPr>
          <p:cNvPr id="3" name="Content Placeholder 2">
            <a:extLst>
              <a:ext uri="{FF2B5EF4-FFF2-40B4-BE49-F238E27FC236}">
                <a16:creationId xmlns:a16="http://schemas.microsoft.com/office/drawing/2014/main" id="{4D3083AB-8BDE-E2B0-29E0-CA485F844C54}"/>
              </a:ext>
            </a:extLst>
          </p:cNvPr>
          <p:cNvSpPr>
            <a:spLocks noGrp="1"/>
          </p:cNvSpPr>
          <p:nvPr>
            <p:ph idx="1"/>
          </p:nvPr>
        </p:nvSpPr>
        <p:spPr>
          <a:xfrm>
            <a:off x="457200" y="1066800"/>
            <a:ext cx="8229600" cy="5059363"/>
          </a:xfrm>
        </p:spPr>
        <p:txBody>
          <a:bodyPr>
            <a:noAutofit/>
          </a:bodyPr>
          <a:lstStyle/>
          <a:p>
            <a:pPr marL="0" indent="0" algn="just">
              <a:buNone/>
            </a:pPr>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M. Shuaib, S. I. M. Abdulhamid, O. S. Adebayo, O. Osho, I. Idris, and J. K. Alhassan, "Malware Analysis: Steps &amp; Examples," CrowdStrike Threat Intelligence Conference (CTIC), 2023.</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L. </a:t>
            </a:r>
            <a:r>
              <a:rPr lang="en-US" sz="1600" dirty="0" err="1">
                <a:latin typeface="Times New Roman" pitchFamily="18" charset="0"/>
                <a:cs typeface="Times New Roman" pitchFamily="18" charset="0"/>
              </a:rPr>
              <a:t>Apvrille</a:t>
            </a:r>
            <a:r>
              <a:rPr lang="en-US" sz="1600" dirty="0">
                <a:latin typeface="Times New Roman" pitchFamily="18" charset="0"/>
                <a:cs typeface="Times New Roman" pitchFamily="18" charset="0"/>
              </a:rPr>
              <a:t> and A. </a:t>
            </a:r>
            <a:r>
              <a:rPr lang="en-US" sz="1600" dirty="0" err="1">
                <a:latin typeface="Times New Roman" pitchFamily="18" charset="0"/>
                <a:cs typeface="Times New Roman" pitchFamily="18" charset="0"/>
              </a:rPr>
              <a:t>Apvrille</a:t>
            </a:r>
            <a:r>
              <a:rPr lang="en-US" sz="1600" dirty="0">
                <a:latin typeface="Times New Roman" pitchFamily="18" charset="0"/>
                <a:cs typeface="Times New Roman" pitchFamily="18" charset="0"/>
              </a:rPr>
              <a:t>, "Top Malware Analysis Platforms &amp; Tools (2024)," Threat Intelligence Lab – International Journal of Cyber Threat Intelligence, 2024.</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T. </a:t>
            </a:r>
            <a:r>
              <a:rPr lang="en-US" sz="1600" dirty="0" err="1">
                <a:latin typeface="Times New Roman" pitchFamily="18" charset="0"/>
                <a:cs typeface="Times New Roman" pitchFamily="18" charset="0"/>
              </a:rPr>
              <a:t>Blasing</a:t>
            </a:r>
            <a:r>
              <a:rPr lang="en-US" sz="1600" dirty="0">
                <a:latin typeface="Times New Roman" pitchFamily="18" charset="0"/>
                <a:cs typeface="Times New Roman" pitchFamily="18" charset="0"/>
              </a:rPr>
              <a:t>, L. </a:t>
            </a:r>
            <a:r>
              <a:rPr lang="en-US" sz="1600" dirty="0" err="1">
                <a:latin typeface="Times New Roman" pitchFamily="18" charset="0"/>
                <a:cs typeface="Times New Roman" pitchFamily="18" charset="0"/>
              </a:rPr>
              <a:t>Batyuk</a:t>
            </a:r>
            <a:r>
              <a:rPr lang="en-US" sz="1600" dirty="0">
                <a:latin typeface="Times New Roman" pitchFamily="18" charset="0"/>
                <a:cs typeface="Times New Roman" pitchFamily="18" charset="0"/>
              </a:rPr>
              <a:t>, A. D. Schmidt, S. A. </a:t>
            </a:r>
            <a:r>
              <a:rPr lang="en-US" sz="1600" dirty="0" err="1">
                <a:latin typeface="Times New Roman" pitchFamily="18" charset="0"/>
                <a:cs typeface="Times New Roman" pitchFamily="18" charset="0"/>
              </a:rPr>
              <a:t>Camtepe</a:t>
            </a:r>
            <a:r>
              <a:rPr lang="en-US" sz="1600" dirty="0">
                <a:latin typeface="Times New Roman" pitchFamily="18" charset="0"/>
                <a:cs typeface="Times New Roman" pitchFamily="18" charset="0"/>
              </a:rPr>
              <a:t>, and S. Albayrak, "Why You Need Static Analysis, Dynamic Analysis, and Machine Learning," Palo Alto Networks Cybersecurity Research Symposium (PANCRS), 2023.</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C. </a:t>
            </a:r>
            <a:r>
              <a:rPr lang="en-US" sz="1600" dirty="0" err="1">
                <a:latin typeface="Times New Roman" pitchFamily="18" charset="0"/>
                <a:cs typeface="Times New Roman" pitchFamily="18" charset="0"/>
              </a:rPr>
              <a:t>Wysopal</a:t>
            </a:r>
            <a:r>
              <a:rPr lang="en-US" sz="1600" dirty="0">
                <a:latin typeface="Times New Roman" pitchFamily="18" charset="0"/>
                <a:cs typeface="Times New Roman" pitchFamily="18" charset="0"/>
              </a:rPr>
              <a:t>, C. Eng, and T. Shields, "The Top 20 Malware Analysis Tools for 2025," </a:t>
            </a:r>
            <a:r>
              <a:rPr lang="en-US" sz="1600" dirty="0" err="1">
                <a:latin typeface="Times New Roman" pitchFamily="18" charset="0"/>
                <a:cs typeface="Times New Roman" pitchFamily="18" charset="0"/>
              </a:rPr>
              <a:t>StationX</a:t>
            </a:r>
            <a:r>
              <a:rPr lang="en-US" sz="1600" dirty="0">
                <a:latin typeface="Times New Roman" pitchFamily="18" charset="0"/>
                <a:cs typeface="Times New Roman" pitchFamily="18" charset="0"/>
              </a:rPr>
              <a:t> Cybersecurity Summit, 2025.</a:t>
            </a:r>
          </a:p>
        </p:txBody>
      </p:sp>
      <p:sp>
        <p:nvSpPr>
          <p:cNvPr id="5" name="Footer Placeholder 3">
            <a:extLst>
              <a:ext uri="{FF2B5EF4-FFF2-40B4-BE49-F238E27FC236}">
                <a16:creationId xmlns:a16="http://schemas.microsoft.com/office/drawing/2014/main" id="{A5DA9D20-7F13-B9AF-53C4-DA074AEEC349}"/>
              </a:ext>
            </a:extLst>
          </p:cNvPr>
          <p:cNvSpPr>
            <a:spLocks noGrp="1"/>
          </p:cNvSpPr>
          <p:nvPr>
            <p:ph type="ftr" sz="quarter" idx="11"/>
          </p:nvPr>
        </p:nvSpPr>
        <p:spPr>
          <a:xfrm>
            <a:off x="1942322" y="6370637"/>
            <a:ext cx="7086600" cy="425450"/>
          </a:xfrm>
        </p:spPr>
        <p:txBody>
          <a:bodyPr/>
          <a:lstStyle/>
          <a:p>
            <a:r>
              <a:rPr lang="en-US" dirty="0"/>
              <a:t>DEPARTMENT OF COMPUTER SCIENCE AND ENGINEERING SPECIALIZATION IN CYBER SECURITY       SLIDE NO:26</a:t>
            </a:r>
          </a:p>
        </p:txBody>
      </p:sp>
      <p:pic>
        <p:nvPicPr>
          <p:cNvPr id="4" name="image1.png">
            <a:extLst>
              <a:ext uri="{FF2B5EF4-FFF2-40B4-BE49-F238E27FC236}">
                <a16:creationId xmlns:a16="http://schemas.microsoft.com/office/drawing/2014/main" id="{8B5B2EAD-EA68-A5E1-F7F1-84F2CA1749EA}"/>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94522" y="274637"/>
            <a:ext cx="1447800" cy="914400"/>
          </a:xfrm>
          <a:prstGeom prst="rect">
            <a:avLst/>
          </a:prstGeom>
          <a:ln/>
        </p:spPr>
      </p:pic>
      <p:sp>
        <p:nvSpPr>
          <p:cNvPr id="6" name="TextBox 5">
            <a:extLst>
              <a:ext uri="{FF2B5EF4-FFF2-40B4-BE49-F238E27FC236}">
                <a16:creationId xmlns:a16="http://schemas.microsoft.com/office/drawing/2014/main" id="{D31EE39C-8DDA-B3D4-837D-A6735FE15E2F}"/>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spTree>
    <p:extLst>
      <p:ext uri="{BB962C8B-B14F-4D97-AF65-F5344CB8AC3E}">
        <p14:creationId xmlns:p14="http://schemas.microsoft.com/office/powerpoint/2010/main" val="37593079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3611D-9546-1E9B-29CB-4DB92D4EF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4580E-3652-710F-7A2E-5B1C70F409BB}"/>
              </a:ext>
            </a:extLst>
          </p:cNvPr>
          <p:cNvSpPr>
            <a:spLocks noGrp="1"/>
          </p:cNvSpPr>
          <p:nvPr>
            <p:ph type="title"/>
          </p:nvPr>
        </p:nvSpPr>
        <p:spPr>
          <a:xfrm>
            <a:off x="457200" y="274638"/>
            <a:ext cx="8229600" cy="715962"/>
          </a:xfrm>
        </p:spPr>
        <p:txBody>
          <a:bodyPr>
            <a:normAutofit fontScale="90000"/>
          </a:bodyPr>
          <a:lstStyle/>
          <a:p>
            <a:r>
              <a:rPr lang="en-US" dirty="0"/>
              <a:t>PROJECT OUTCOME</a:t>
            </a:r>
          </a:p>
        </p:txBody>
      </p:sp>
      <p:sp>
        <p:nvSpPr>
          <p:cNvPr id="5" name="Footer Placeholder 3">
            <a:extLst>
              <a:ext uri="{FF2B5EF4-FFF2-40B4-BE49-F238E27FC236}">
                <a16:creationId xmlns:a16="http://schemas.microsoft.com/office/drawing/2014/main" id="{3137C9D4-CDE3-D54E-CCB9-4005BA2BE0C5}"/>
              </a:ext>
            </a:extLst>
          </p:cNvPr>
          <p:cNvSpPr>
            <a:spLocks noGrp="1"/>
          </p:cNvSpPr>
          <p:nvPr>
            <p:ph type="ftr" sz="quarter" idx="11"/>
          </p:nvPr>
        </p:nvSpPr>
        <p:spPr>
          <a:xfrm>
            <a:off x="1942322" y="6370637"/>
            <a:ext cx="7086600" cy="425450"/>
          </a:xfrm>
        </p:spPr>
        <p:txBody>
          <a:bodyPr/>
          <a:lstStyle/>
          <a:p>
            <a:r>
              <a:rPr lang="en-US" dirty="0"/>
              <a:t>DEPARTMENT OF COMPUTER SCIENCE AND ENGINEERING SPECIALIZATION IN CYBER SECURITY       SLIDE NO:27</a:t>
            </a:r>
          </a:p>
        </p:txBody>
      </p:sp>
      <p:pic>
        <p:nvPicPr>
          <p:cNvPr id="4" name="image1.png">
            <a:extLst>
              <a:ext uri="{FF2B5EF4-FFF2-40B4-BE49-F238E27FC236}">
                <a16:creationId xmlns:a16="http://schemas.microsoft.com/office/drawing/2014/main" id="{9598A661-FE6F-5C46-ECA7-9BDF343B5257}"/>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94522" y="274637"/>
            <a:ext cx="1447800" cy="914400"/>
          </a:xfrm>
          <a:prstGeom prst="rect">
            <a:avLst/>
          </a:prstGeom>
          <a:ln/>
        </p:spPr>
      </p:pic>
      <p:sp>
        <p:nvSpPr>
          <p:cNvPr id="6" name="TextBox 5">
            <a:extLst>
              <a:ext uri="{FF2B5EF4-FFF2-40B4-BE49-F238E27FC236}">
                <a16:creationId xmlns:a16="http://schemas.microsoft.com/office/drawing/2014/main" id="{B5E9DEB1-D523-5CF2-BE51-8EF33CEDDBAE}"/>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pic>
        <p:nvPicPr>
          <p:cNvPr id="8" name="Content Placeholder 7" descr="A certificate of presentation&#10;&#10;AI-generated content may be incorrect.">
            <a:extLst>
              <a:ext uri="{FF2B5EF4-FFF2-40B4-BE49-F238E27FC236}">
                <a16:creationId xmlns:a16="http://schemas.microsoft.com/office/drawing/2014/main" id="{ABB3E52B-BCCC-5A2C-7689-72C8B975828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371177" y="1600200"/>
            <a:ext cx="6401645" cy="4525963"/>
          </a:xfrm>
        </p:spPr>
      </p:pic>
    </p:spTree>
    <p:extLst>
      <p:ext uri="{BB962C8B-B14F-4D97-AF65-F5344CB8AC3E}">
        <p14:creationId xmlns:p14="http://schemas.microsoft.com/office/powerpoint/2010/main" val="2105355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DCEC7-A976-03A6-9B20-4EB9274B0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B0A7A-027E-99FB-9259-39B0AC19C959}"/>
              </a:ext>
            </a:extLst>
          </p:cNvPr>
          <p:cNvSpPr>
            <a:spLocks noGrp="1"/>
          </p:cNvSpPr>
          <p:nvPr>
            <p:ph type="title"/>
          </p:nvPr>
        </p:nvSpPr>
        <p:spPr>
          <a:xfrm>
            <a:off x="457200" y="274638"/>
            <a:ext cx="8229600" cy="715962"/>
          </a:xfrm>
        </p:spPr>
        <p:txBody>
          <a:bodyPr>
            <a:normAutofit fontScale="90000"/>
          </a:bodyPr>
          <a:lstStyle/>
          <a:p>
            <a:r>
              <a:rPr lang="en-US" dirty="0"/>
              <a:t>PROJECT OUTCOME</a:t>
            </a:r>
          </a:p>
        </p:txBody>
      </p:sp>
      <p:sp>
        <p:nvSpPr>
          <p:cNvPr id="5" name="Footer Placeholder 3">
            <a:extLst>
              <a:ext uri="{FF2B5EF4-FFF2-40B4-BE49-F238E27FC236}">
                <a16:creationId xmlns:a16="http://schemas.microsoft.com/office/drawing/2014/main" id="{FB804BBC-C203-B3C1-7B1B-2F4C6CB483DE}"/>
              </a:ext>
            </a:extLst>
          </p:cNvPr>
          <p:cNvSpPr>
            <a:spLocks noGrp="1"/>
          </p:cNvSpPr>
          <p:nvPr>
            <p:ph type="ftr" sz="quarter" idx="11"/>
          </p:nvPr>
        </p:nvSpPr>
        <p:spPr>
          <a:xfrm>
            <a:off x="1942322" y="6370637"/>
            <a:ext cx="7086600" cy="425450"/>
          </a:xfrm>
        </p:spPr>
        <p:txBody>
          <a:bodyPr/>
          <a:lstStyle/>
          <a:p>
            <a:r>
              <a:rPr lang="en-US" dirty="0"/>
              <a:t>DEPARTMENT OF COMPUTER SCIENCE AND ENGINEERING SPECIALIZATION IN CYBER SECURITY       SLIDE NO:27</a:t>
            </a:r>
          </a:p>
        </p:txBody>
      </p:sp>
      <p:pic>
        <p:nvPicPr>
          <p:cNvPr id="4" name="image1.png">
            <a:extLst>
              <a:ext uri="{FF2B5EF4-FFF2-40B4-BE49-F238E27FC236}">
                <a16:creationId xmlns:a16="http://schemas.microsoft.com/office/drawing/2014/main" id="{1E49F442-F710-2639-DE25-0D0342BAC890}"/>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94522" y="274637"/>
            <a:ext cx="1447800" cy="914400"/>
          </a:xfrm>
          <a:prstGeom prst="rect">
            <a:avLst/>
          </a:prstGeom>
          <a:ln/>
        </p:spPr>
      </p:pic>
      <p:sp>
        <p:nvSpPr>
          <p:cNvPr id="6" name="TextBox 5">
            <a:extLst>
              <a:ext uri="{FF2B5EF4-FFF2-40B4-BE49-F238E27FC236}">
                <a16:creationId xmlns:a16="http://schemas.microsoft.com/office/drawing/2014/main" id="{97E281CE-779F-FD2C-BDCD-ACB01EC30A53}"/>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pic>
        <p:nvPicPr>
          <p:cNvPr id="24" name="Content Placeholder 23" descr="A certificate of presentation&#10;&#10;AI-generated content may be incorrect.">
            <a:extLst>
              <a:ext uri="{FF2B5EF4-FFF2-40B4-BE49-F238E27FC236}">
                <a16:creationId xmlns:a16="http://schemas.microsoft.com/office/drawing/2014/main" id="{1444F13A-4578-488D-5E0C-13D6EAFF300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371177" y="1600200"/>
            <a:ext cx="6401645" cy="4525963"/>
          </a:xfrm>
        </p:spPr>
      </p:pic>
    </p:spTree>
    <p:extLst>
      <p:ext uri="{BB962C8B-B14F-4D97-AF65-F5344CB8AC3E}">
        <p14:creationId xmlns:p14="http://schemas.microsoft.com/office/powerpoint/2010/main" val="22697769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26669-7BF1-C55A-1615-3A71D5086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267D7-F779-B6EA-8F0E-93C34CF05BEA}"/>
              </a:ext>
            </a:extLst>
          </p:cNvPr>
          <p:cNvSpPr>
            <a:spLocks noGrp="1"/>
          </p:cNvSpPr>
          <p:nvPr>
            <p:ph type="title"/>
          </p:nvPr>
        </p:nvSpPr>
        <p:spPr>
          <a:xfrm>
            <a:off x="457200" y="274638"/>
            <a:ext cx="8229600" cy="715962"/>
          </a:xfrm>
        </p:spPr>
        <p:txBody>
          <a:bodyPr>
            <a:normAutofit fontScale="90000"/>
          </a:bodyPr>
          <a:lstStyle/>
          <a:p>
            <a:r>
              <a:rPr lang="en-US" dirty="0"/>
              <a:t>PROJECT OUTCOME</a:t>
            </a:r>
          </a:p>
        </p:txBody>
      </p:sp>
      <p:sp>
        <p:nvSpPr>
          <p:cNvPr id="5" name="Footer Placeholder 3">
            <a:extLst>
              <a:ext uri="{FF2B5EF4-FFF2-40B4-BE49-F238E27FC236}">
                <a16:creationId xmlns:a16="http://schemas.microsoft.com/office/drawing/2014/main" id="{DE5F4AA4-D75E-14B3-77E3-56416A591B3A}"/>
              </a:ext>
            </a:extLst>
          </p:cNvPr>
          <p:cNvSpPr>
            <a:spLocks noGrp="1"/>
          </p:cNvSpPr>
          <p:nvPr>
            <p:ph type="ftr" sz="quarter" idx="11"/>
          </p:nvPr>
        </p:nvSpPr>
        <p:spPr>
          <a:xfrm>
            <a:off x="1942322" y="6370637"/>
            <a:ext cx="7086600" cy="425450"/>
          </a:xfrm>
        </p:spPr>
        <p:txBody>
          <a:bodyPr/>
          <a:lstStyle/>
          <a:p>
            <a:r>
              <a:rPr lang="en-US" dirty="0"/>
              <a:t>DEPARTMENT OF COMPUTER SCIENCE AND ENGINEERING SPECIALIZATION IN CYBER SECURITY       SLIDE NO:27</a:t>
            </a:r>
          </a:p>
        </p:txBody>
      </p:sp>
      <p:pic>
        <p:nvPicPr>
          <p:cNvPr id="4" name="image1.png">
            <a:extLst>
              <a:ext uri="{FF2B5EF4-FFF2-40B4-BE49-F238E27FC236}">
                <a16:creationId xmlns:a16="http://schemas.microsoft.com/office/drawing/2014/main" id="{07A31947-E948-3A18-CE9C-29085E143561}"/>
              </a:ext>
            </a:extLst>
          </p:cNvPr>
          <p:cNvPicPr/>
          <p:nvPr/>
        </p:nvPicPr>
        <p:blipFill>
          <a:blip r:embed="rId2">
            <a:extLst>
              <a:ext uri="{28A0092B-C50C-407E-A947-70E740481C1C}">
                <a14:useLocalDpi xmlns:a14="http://schemas.microsoft.com/office/drawing/2010/main" val="0"/>
              </a:ext>
            </a:extLst>
          </a:blip>
          <a:srcRect/>
          <a:stretch>
            <a:fillRect/>
          </a:stretch>
        </p:blipFill>
        <p:spPr>
          <a:xfrm>
            <a:off x="494522" y="274637"/>
            <a:ext cx="1447800" cy="914400"/>
          </a:xfrm>
          <a:prstGeom prst="rect">
            <a:avLst/>
          </a:prstGeom>
          <a:ln/>
        </p:spPr>
      </p:pic>
      <p:sp>
        <p:nvSpPr>
          <p:cNvPr id="6" name="TextBox 5">
            <a:extLst>
              <a:ext uri="{FF2B5EF4-FFF2-40B4-BE49-F238E27FC236}">
                <a16:creationId xmlns:a16="http://schemas.microsoft.com/office/drawing/2014/main" id="{D6A76DC8-1798-F74B-C4F7-E3F018F836FC}"/>
              </a:ext>
            </a:extLst>
          </p:cNvPr>
          <p:cNvSpPr txBox="1"/>
          <p:nvPr/>
        </p:nvSpPr>
        <p:spPr>
          <a:xfrm>
            <a:off x="-152400" y="6273225"/>
            <a:ext cx="2410767" cy="584775"/>
          </a:xfrm>
          <a:prstGeom prst="rect">
            <a:avLst/>
          </a:prstGeom>
          <a:noFill/>
        </p:spPr>
        <p:txBody>
          <a:bodyPr wrap="square" rtlCol="0">
            <a:spAutoFit/>
          </a:bodyPr>
          <a:lstStyle/>
          <a:p>
            <a:pPr algn="ctr">
              <a:buClr>
                <a:srgbClr val="000000"/>
              </a:buClr>
              <a:buFont typeface="Arial"/>
              <a:buNone/>
            </a:pP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School</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 of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Co</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mputer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S</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cience </a:t>
            </a:r>
            <a:r>
              <a:rPr lang="en-US" sz="1600" b="1" i="1" kern="0" dirty="0">
                <a:ln w="0"/>
                <a:solidFill>
                  <a:srgbClr val="4F81BD"/>
                </a:solidFill>
                <a:effectLst>
                  <a:outerShdw blurRad="38100" dist="25400" dir="5400000" algn="ctr" rotWithShape="0">
                    <a:srgbClr val="6E747A">
                      <a:alpha val="43000"/>
                    </a:srgbClr>
                  </a:outerShdw>
                </a:effectLst>
                <a:latin typeface="Arial"/>
                <a:cs typeface="Arial"/>
                <a:sym typeface="Arial"/>
              </a:rPr>
              <a:t>E</a:t>
            </a:r>
            <a:r>
              <a:rPr lang="en-US" sz="1400" b="1" i="1" kern="0" dirty="0">
                <a:ln w="0"/>
                <a:solidFill>
                  <a:srgbClr val="4F81BD"/>
                </a:solidFill>
                <a:effectLst>
                  <a:outerShdw blurRad="38100" dist="25400" dir="5400000" algn="ctr" rotWithShape="0">
                    <a:srgbClr val="6E747A">
                      <a:alpha val="43000"/>
                    </a:srgbClr>
                  </a:outerShdw>
                </a:effectLst>
                <a:latin typeface="Arial"/>
                <a:cs typeface="Arial"/>
                <a:sym typeface="Arial"/>
              </a:rPr>
              <a:t>ngineering</a:t>
            </a:r>
          </a:p>
        </p:txBody>
      </p:sp>
      <p:pic>
        <p:nvPicPr>
          <p:cNvPr id="8" name="Content Placeholder 7" descr="A certificate of presentation&#10;&#10;AI-generated content may be incorrect.">
            <a:extLst>
              <a:ext uri="{FF2B5EF4-FFF2-40B4-BE49-F238E27FC236}">
                <a16:creationId xmlns:a16="http://schemas.microsoft.com/office/drawing/2014/main" id="{E3CDEB41-5C62-F72D-5016-09D3A48559A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371177" y="1600200"/>
            <a:ext cx="6401645" cy="4525963"/>
          </a:xfrm>
        </p:spPr>
      </p:pic>
    </p:spTree>
    <p:extLst>
      <p:ext uri="{BB962C8B-B14F-4D97-AF65-F5344CB8AC3E}">
        <p14:creationId xmlns:p14="http://schemas.microsoft.com/office/powerpoint/2010/main" val="2990326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529</TotalTime>
  <Words>3197</Words>
  <Application>Microsoft Office PowerPoint</Application>
  <PresentationFormat>On-screen Show (4:3)</PresentationFormat>
  <Paragraphs>350</Paragraphs>
  <Slides>34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Times New Roman</vt:lpstr>
      <vt:lpstr>Office Theme</vt:lpstr>
      <vt:lpstr>SRM INSTITUTE OF SCIENCE AND TECHNOLOGY Ramapuram, Chennai – 600 089 SCHOOL OF COMPUTER SCIENCE ENGINEERING  DEPARTMENT OF COMPUTER SCIENCE AND ENGINEERING SPECIALIZATION IN CYBER SECURITY</vt:lpstr>
      <vt:lpstr>Agenda</vt:lpstr>
      <vt:lpstr>ABSTRACT</vt:lpstr>
      <vt:lpstr>Introduction</vt:lpstr>
      <vt:lpstr>Scope and Motivation</vt:lpstr>
      <vt:lpstr>Literature Survey</vt:lpstr>
      <vt:lpstr>Literature Survey</vt:lpstr>
      <vt:lpstr>Problem Statement</vt:lpstr>
      <vt:lpstr>Objectives</vt:lpstr>
      <vt:lpstr>Objectives</vt:lpstr>
      <vt:lpstr>Proposed-Novel Idea</vt:lpstr>
      <vt:lpstr>Proposed Work-Block Diagram</vt:lpstr>
      <vt:lpstr>Proposed Architecture Diagram</vt:lpstr>
      <vt:lpstr>Software &amp; Hardware Requirements</vt:lpstr>
      <vt:lpstr>Proposed-Modules &amp; Description</vt:lpstr>
      <vt:lpstr>Proposed-Modules &amp; Description</vt:lpstr>
      <vt:lpstr>Module Output </vt:lpstr>
      <vt:lpstr>Module Output </vt:lpstr>
      <vt:lpstr>Module Output </vt:lpstr>
      <vt:lpstr>Module Output </vt:lpstr>
      <vt:lpstr>Module Output </vt:lpstr>
      <vt:lpstr>Module Output </vt:lpstr>
      <vt:lpstr>RESULTS AND DISCUSSIONS</vt:lpstr>
      <vt:lpstr>RESULTS AND DISCUSSIONS</vt:lpstr>
      <vt:lpstr>RESULTS AND DISCUSSIONS</vt:lpstr>
      <vt:lpstr>RESULTS AND DISCUSSIONS</vt:lpstr>
      <vt:lpstr>RESULTS AND DISCUSSIONS</vt:lpstr>
      <vt:lpstr>FUTURE SCOPE</vt:lpstr>
      <vt:lpstr>CONCLUSION</vt:lpstr>
      <vt:lpstr>References</vt:lpstr>
      <vt:lpstr>References</vt:lpstr>
      <vt:lpstr>PROJECT OUTCOME</vt:lpstr>
      <vt:lpstr>PROJECT OUTCOME</vt:lpstr>
      <vt:lpstr>PROJECT OUTCOME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Campus , Chennai – 600 089 DEPARTMENT OF COMPUTER SCIENCE AND ENGINEERING</dc:title>
  <dc:creator>DELL</dc:creator>
  <cp:lastModifiedBy>vs barath</cp:lastModifiedBy>
  <cp:revision>46</cp:revision>
  <dcterms:created xsi:type="dcterms:W3CDTF">2023-07-26T03:49:14Z</dcterms:created>
  <dcterms:modified xsi:type="dcterms:W3CDTF">2025-05-12T14:51:22Z</dcterms:modified>
</cp:coreProperties>
</file>